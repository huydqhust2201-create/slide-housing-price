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8.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2D34"/>
                </a:solidFill>
                <a:latin typeface="Arial"/>
              </a:defRPr>
            </a:pPr>
            <a:r>
              <a:rPr sz="1300" b="0" i="0" u="none" strike="noStrike">
                <a:solidFill>
                  <a:srgbClr val="2A2D34"/>
                </a:solidFill>
                <a:latin typeface="Arial"/>
              </a:rPr>
              <a:t>% dòng theo vùng ở hai phía — lệch ≤ 1,7 điểm</a:t>
            </a:r>
          </a:p>
        </c:rich>
      </c:tx>
      <c:layout/>
      <c:overlay val="0"/>
    </c:title>
    <c:autoTitleDeleted val="0"/>
    <c:plotArea>
      <c:layout/>
      <c:barChart>
        <c:barDir val="col"/>
        <c:grouping val="clustered"/>
        <c:varyColors val="0"/>
        <c:ser>
          <c:idx val="0"/>
          <c:order val="0"/>
          <c:tx>
            <c:strRef>
              <c:f>Sheet1!$B$1</c:f>
              <c:strCache>
                <c:ptCount val="1"/>
                <c:pt idx="0">
                  <c:v>Train + CV</c:v>
                </c:pt>
              </c:strCache>
            </c:strRef>
          </c:tx>
          <c:spPr>
            <a:solidFill>
              <a:srgbClr val="2A2D34"/>
            </a:solidFill>
            <a:effectLst/>
          </c:spPr>
          <c:invertIfNegative val="0"/>
          <c:dLbls>
            <c:numFmt formatCode="0.0" sourceLinked="0"/>
            <c:txPr>
              <a:bodyPr/>
              <a:lstStyle/>
              <a:p>
                <a:pPr>
                  <a:defRPr b="1" i="0" strike="noStrike" sz="1000" u="none">
                    <a:solidFill>
                      <a:srgbClr val="2A2D34"/>
                    </a:solidFill>
                    <a:latin typeface="Arial"/>
                  </a:defRPr>
                </a:pPr>
              </a:p>
            </c:txPr>
            <c:showLegendKey val="0"/>
            <c:showVal val="1"/>
            <c:showCatName val="0"/>
            <c:showSerName val="0"/>
            <c:showPercent val="0"/>
            <c:showBubbleSize val="0"/>
            <c:showLeaderLines val="0"/>
          </c:dLbls>
          <c:cat>
            <c:multiLvlStrRef>
              <c:f>Sheet1!$A$2:$A$5</c:f>
              <c:multiLvlStrCache>
                <c:ptCount val="4"/>
                <c:lvl>
                  <c:pt idx="0">
                    <c:v>Hà Nội</c:v>
                  </c:pt>
                  <c:pt idx="1">
                    <c:v>TP.HCM</c:v>
                  </c:pt>
                  <c:pt idx="2">
                    <c:v>Tỉnh nhóm 2</c:v>
                  </c:pt>
                  <c:pt idx="3">
                    <c:v>Tỉnh nhóm 3</c:v>
                  </c:pt>
                </c:lvl>
              </c:multiLvlStrCache>
            </c:multiLvlStrRef>
          </c:cat>
          <c:val>
            <c:numRef>
              <c:f>Sheet1!$B$2:$B$5</c:f>
              <c:numCache>
                <c:formatCode>General</c:formatCode>
                <c:ptCount val="4"/>
                <c:pt idx="0">
                  <c:v>28.6</c:v>
                </c:pt>
                <c:pt idx="1">
                  <c:v>41.9</c:v>
                </c:pt>
                <c:pt idx="2">
                  <c:v>20.3</c:v>
                </c:pt>
                <c:pt idx="3">
                  <c:v>9.2</c:v>
                </c:pt>
              </c:numCache>
            </c:numRef>
          </c:val>
        </c:ser>
        <c:ser>
          <c:idx val="1"/>
          <c:order val="1"/>
          <c:tx>
            <c:strRef>
              <c:f>Sheet1!$C$1</c:f>
              <c:strCache>
                <c:ptCount val="1"/>
                <c:pt idx="0">
                  <c:v>Test</c:v>
                </c:pt>
              </c:strCache>
            </c:strRef>
          </c:tx>
          <c:spPr>
            <a:solidFill>
              <a:srgbClr val="A50E1F"/>
            </a:solidFill>
            <a:effectLst/>
          </c:spPr>
          <c:invertIfNegative val="0"/>
          <c:dLbls>
            <c:numFmt formatCode="0.0" sourceLinked="0"/>
            <c:txPr>
              <a:bodyPr/>
              <a:lstStyle/>
              <a:p>
                <a:pPr>
                  <a:defRPr b="1" i="0" strike="noStrike" sz="1000" u="none">
                    <a:solidFill>
                      <a:srgbClr val="2A2D34"/>
                    </a:solidFill>
                    <a:latin typeface="Arial"/>
                  </a:defRPr>
                </a:pPr>
              </a:p>
            </c:txPr>
            <c:showLegendKey val="0"/>
            <c:showVal val="1"/>
            <c:showCatName val="0"/>
            <c:showSerName val="0"/>
            <c:showPercent val="0"/>
            <c:showBubbleSize val="0"/>
            <c:showLeaderLines val="0"/>
          </c:dLbls>
          <c:cat>
            <c:multiLvlStrRef>
              <c:f>Sheet1!$A$2:$A$5</c:f>
              <c:multiLvlStrCache>
                <c:ptCount val="4"/>
                <c:lvl>
                  <c:pt idx="0">
                    <c:v>Hà Nội</c:v>
                  </c:pt>
                  <c:pt idx="1">
                    <c:v>TP.HCM</c:v>
                  </c:pt>
                  <c:pt idx="2">
                    <c:v>Tỉnh nhóm 2</c:v>
                  </c:pt>
                  <c:pt idx="3">
                    <c:v>Tỉnh nhóm 3</c:v>
                  </c:pt>
                </c:lvl>
              </c:multiLvlStrCache>
            </c:multiLvlStrRef>
          </c:cat>
          <c:val>
            <c:numRef>
              <c:f>Sheet1!$C$2:$C$5</c:f>
              <c:numCache>
                <c:formatCode>General</c:formatCode>
                <c:ptCount val="4"/>
                <c:pt idx="0">
                  <c:v>28.2</c:v>
                </c:pt>
                <c:pt idx="1">
                  <c:v>41.3</c:v>
                </c:pt>
                <c:pt idx="2">
                  <c:v>19.6</c:v>
                </c:pt>
                <c:pt idx="3">
                  <c:v>10.9</c:v>
                </c:pt>
              </c:numCache>
            </c:numRef>
          </c:val>
        </c:ser>
        <c:dLbls>
          <c:numFmt formatCode="0.0" sourceLinked="0"/>
          <c:txPr>
            <a:bodyPr/>
            <a:lstStyle/>
            <a:p>
              <a:pPr>
                <a:defRPr b="1" i="0" strike="noStrike" sz="1000" u="none">
                  <a:solidFill>
                    <a:srgbClr val="2A2D34"/>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A2D34"/>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A2D34"/>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2D34"/>
                </a:solidFill>
                <a:latin typeface="Arial"/>
              </a:defRPr>
            </a:pPr>
            <a:r>
              <a:rPr sz="1300" b="0" i="0" u="none" strike="noStrike">
                <a:solidFill>
                  <a:srgbClr val="2A2D34"/>
                </a:solidFill>
                <a:latin typeface="Arial"/>
              </a:rPr>
              <a:t>Giá/m² batdongsan cao hơn Chợ Tốt bao nhiêu — tùy cách so</a:t>
            </a:r>
          </a:p>
        </c:rich>
      </c:tx>
      <c:layout/>
      <c:overlay val="0"/>
    </c:title>
    <c:autoTitleDeleted val="0"/>
    <c:plotArea>
      <c:layout/>
      <c:barChart>
        <c:barDir val="bar"/>
        <c:grouping val="stacked"/>
        <c:varyColors val="0"/>
        <c:ser>
          <c:idx val="0"/>
          <c:order val="0"/>
          <c:tx>
            <c:strRef>
              <c:f>Sheet1!$B$1</c:f>
              <c:strCache>
                <c:ptCount val="1"/>
                <c:pt idx="0">
                  <c:v>So gộp theo vùng</c:v>
                </c:pt>
              </c:strCache>
            </c:strRef>
          </c:tx>
          <c:spPr>
            <a:solidFill>
              <a:srgbClr val="B8B9BE"/>
            </a:solidFill>
            <a:effectLst/>
          </c:spPr>
          <c:invertIfNegative val="0"/>
          <c:dLbls>
            <c:numFmt formatCode="+0&quot;%&quot;;-0&quot;%&quot;;;" sourceLinked="0"/>
            <c:txPr>
              <a:bodyPr/>
              <a:lstStyle/>
              <a:p>
                <a:pPr>
                  <a:defRPr b="1" i="0" strike="noStrike" sz="11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Gộp — Hà Nội</c:v>
                  </c:pt>
                  <c:pt idx="1">
                    <c:v>Gộp — TP.HCM</c:v>
                  </c:pt>
                  <c:pt idx="2">
                    <c:v>Gộp — Tỉnh nhóm 2</c:v>
                  </c:pt>
                  <c:pt idx="3">
                    <c:v>Gộp — Tỉnh nhóm 3</c:v>
                  </c:pt>
                  <c:pt idx="4">
                    <c:v>Cùng cụm 200 m</c:v>
                  </c:pt>
                  <c:pt idx="5">
                    <c:v>Cùng dự án</c:v>
                  </c:pt>
                </c:lvl>
              </c:multiLvlStrCache>
            </c:multiLvlStrRef>
          </c:cat>
          <c:val>
            <c:numRef>
              <c:f>Sheet1!$B$2:$B$7</c:f>
              <c:numCache>
                <c:formatCode>General</c:formatCode>
                <c:ptCount val="6"/>
                <c:pt idx="0">
                  <c:v>40</c:v>
                </c:pt>
                <c:pt idx="1">
                  <c:v>36</c:v>
                </c:pt>
                <c:pt idx="2">
                  <c:v>26</c:v>
                </c:pt>
                <c:pt idx="3">
                  <c:v>10</c:v>
                </c:pt>
                <c:pt idx="4">
                  <c:v>0</c:v>
                </c:pt>
                <c:pt idx="5">
                  <c:v>0</c:v>
                </c:pt>
              </c:numCache>
            </c:numRef>
          </c:val>
        </c:ser>
        <c:ser>
          <c:idx val="1"/>
          <c:order val="1"/>
          <c:tx>
            <c:strRef>
              <c:f>Sheet1!$C$1</c:f>
              <c:strCache>
                <c:ptCount val="1"/>
                <c:pt idx="0">
                  <c:v>So trong cùng vị trí</c:v>
                </c:pt>
              </c:strCache>
            </c:strRef>
          </c:tx>
          <c:spPr>
            <a:solidFill>
              <a:srgbClr val="A50E1F"/>
            </a:solidFill>
            <a:effectLst/>
          </c:spPr>
          <c:invertIfNegative val="0"/>
          <c:dLbls>
            <c:numFmt formatCode="+0&quot;%&quot;;-0&quot;%&quot;;;" sourceLinked="0"/>
            <c:txPr>
              <a:bodyPr/>
              <a:lstStyle/>
              <a:p>
                <a:pPr>
                  <a:defRPr b="1" i="0" strike="noStrike" sz="11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Gộp — Hà Nội</c:v>
                  </c:pt>
                  <c:pt idx="1">
                    <c:v>Gộp — TP.HCM</c:v>
                  </c:pt>
                  <c:pt idx="2">
                    <c:v>Gộp — Tỉnh nhóm 2</c:v>
                  </c:pt>
                  <c:pt idx="3">
                    <c:v>Gộp — Tỉnh nhóm 3</c:v>
                  </c:pt>
                  <c:pt idx="4">
                    <c:v>Cùng cụm 200 m</c:v>
                  </c:pt>
                  <c:pt idx="5">
                    <c:v>Cùng dự án</c:v>
                  </c:pt>
                </c:lvl>
              </c:multiLvlStrCache>
            </c:multiLvlStrRef>
          </c:cat>
          <c:val>
            <c:numRef>
              <c:f>Sheet1!$C$2:$C$7</c:f>
              <c:numCache>
                <c:formatCode>General</c:formatCode>
                <c:ptCount val="6"/>
                <c:pt idx="0">
                  <c:v>0</c:v>
                </c:pt>
                <c:pt idx="1">
                  <c:v>0</c:v>
                </c:pt>
                <c:pt idx="2">
                  <c:v>0</c:v>
                </c:pt>
                <c:pt idx="3">
                  <c:v>0</c:v>
                </c:pt>
                <c:pt idx="4">
                  <c:v>4.2</c:v>
                </c:pt>
                <c:pt idx="5">
                  <c:v>0.5</c:v>
                </c:pt>
              </c:numCache>
            </c:numRef>
          </c:val>
        </c:ser>
        <c:dLbls>
          <c:numFmt formatCode="+0&quot;%&quot;;-0&quot;%&quot;;;" sourceLinked="0"/>
          <c:txPr>
            <a:bodyPr/>
            <a:lstStyle/>
            <a:p>
              <a:pPr>
                <a:defRPr b="1" i="0" strike="noStrike" sz="1100" u="none">
                  <a:solidFill>
                    <a:srgbClr val="FFFFFF"/>
                  </a:solidFill>
                  <a:latin typeface="Arial"/>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A2D34"/>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A2D34"/>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2D34"/>
                </a:solidFill>
                <a:latin typeface="Arial"/>
              </a:defRPr>
            </a:pPr>
            <a:r>
              <a:rPr sz="1300" b="0" i="0" u="none" strike="noStrike">
                <a:solidFill>
                  <a:srgbClr val="2A2D34"/>
                </a:solidFill>
                <a:latin typeface="Arial"/>
              </a:rPr>
              <a:t>Biết vị trí tới cấp nào → giải thích bao nhiêu % chênh lệch giá/m²</a:t>
            </a:r>
          </a:p>
        </c:rich>
      </c:tx>
      <c:layout/>
      <c:overlay val="0"/>
    </c:title>
    <c:autoTitleDeleted val="0"/>
    <c:plotArea>
      <c:layout/>
      <c:barChart>
        <c:barDir val="col"/>
        <c:grouping val="clustered"/>
        <c:varyColors val="0"/>
        <c:ser>
          <c:idx val="0"/>
          <c:order val="0"/>
          <c:tx>
            <c:strRef>
              <c:f>Sheet1!$B$1</c:f>
              <c:strCache>
                <c:ptCount val="1"/>
                <c:pt idx="0">
                  <c:v>% giải thích</c:v>
                </c:pt>
              </c:strCache>
            </c:strRef>
          </c:tx>
          <c:spPr>
            <a:solidFill>
              <a:srgbClr val="A50E1F"/>
            </a:solidFill>
            <a:effectLst/>
          </c:spPr>
          <c:invertIfNegative val="0"/>
          <c:dLbls>
            <c:numFmt formatCode="0&quot;%&quot;" sourceLinked="0"/>
            <c:txPr>
              <a:bodyPr/>
              <a:lstStyle/>
              <a:p>
                <a:pPr>
                  <a:defRPr b="1" i="0" strike="noStrike" sz="1100" u="none">
                    <a:solidFill>
                      <a:srgbClr val="2A2D34"/>
                    </a:solidFill>
                    <a:latin typeface="Arial"/>
                  </a:defRPr>
                </a:pPr>
              </a:p>
            </c:txPr>
            <c:showLegendKey val="0"/>
            <c:showVal val="1"/>
            <c:showCatName val="0"/>
            <c:showSerName val="0"/>
            <c:showPercent val="0"/>
            <c:showBubbleSize val="0"/>
            <c:showLeaderLines val="0"/>
          </c:dLbls>
          <c:cat>
            <c:multiLvlStrRef>
              <c:f>Sheet1!$A$2:$A$6</c:f>
              <c:multiLvlStrCache>
                <c:ptCount val="5"/>
                <c:lvl>
                  <c:pt idx="0">
                    <c:v>Vùng</c:v>
                  </c:pt>
                  <c:pt idx="1">
                    <c:v>Tỉnh</c:v>
                  </c:pt>
                  <c:pt idx="2">
                    <c:v>Quận</c:v>
                  </c:pt>
                  <c:pt idx="3">
                    <c:v>Phường</c:v>
                  </c:pt>
                  <c:pt idx="4">
                    <c:v>Dự án / cụm</c:v>
                  </c:pt>
                </c:lvl>
              </c:multiLvlStrCache>
            </c:multiLvlStrRef>
          </c:cat>
          <c:val>
            <c:numRef>
              <c:f>Sheet1!$B$2:$B$6</c:f>
              <c:numCache>
                <c:formatCode>General</c:formatCode>
                <c:ptCount val="5"/>
                <c:pt idx="0">
                  <c:v>24.5</c:v>
                </c:pt>
                <c:pt idx="1">
                  <c:v>30.5</c:v>
                </c:pt>
                <c:pt idx="2">
                  <c:v>49.4</c:v>
                </c:pt>
                <c:pt idx="3">
                  <c:v>64.7</c:v>
                </c:pt>
                <c:pt idx="4">
                  <c:v>77.8</c:v>
                </c:pt>
              </c:numCache>
            </c:numRef>
          </c:val>
        </c:ser>
        <c:dLbls>
          <c:numFmt formatCode="0&quot;%&quot;" sourceLinked="0"/>
          <c:txPr>
            <a:bodyPr/>
            <a:lstStyle/>
            <a:p>
              <a:pPr>
                <a:defRPr b="1" i="0" strike="noStrike" sz="1100" u="none">
                  <a:solidFill>
                    <a:srgbClr val="2A2D3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A2D34"/>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2D34"/>
                </a:solidFill>
                <a:latin typeface="Arial"/>
              </a:defRPr>
            </a:pPr>
            <a:r>
              <a:rPr sz="1300" b="0" i="0" u="none" strike="noStrike">
                <a:solidFill>
                  <a:srgbClr val="2A2D34"/>
                </a:solidFill>
                <a:latin typeface="Arial"/>
              </a:rPr>
              <a:t>Trong cùng dự án: giá/m² theo diện tích (m²)</a:t>
            </a:r>
          </a:p>
        </c:rich>
      </c:tx>
      <c:layout/>
      <c:overlay val="0"/>
    </c:title>
    <c:autoTitleDeleted val="0"/>
    <c:plotArea>
      <c:layout/>
      <c:barChart>
        <c:barDir val="col"/>
        <c:grouping val="clustered"/>
        <c:varyColors val="0"/>
        <c:ser>
          <c:idx val="0"/>
          <c:order val="0"/>
          <c:tx>
            <c:strRef>
              <c:f>Sheet1!$B$1</c:f>
              <c:strCache>
                <c:ptCount val="1"/>
                <c:pt idx="0">
                  <c:v>% so với dự án</c:v>
                </c:pt>
              </c:strCache>
            </c:strRef>
          </c:tx>
          <c:spPr>
            <a:solidFill>
              <a:srgbClr val="2A2D34"/>
            </a:solidFill>
            <a:effectLst/>
          </c:spPr>
          <c:invertIfNegative val="0"/>
          <c:dLbls>
            <c:numFmt formatCode="+0&quot;%&quot;;-0&quot;%&quot;;0&quot;%&quot;" sourceLinked="0"/>
            <c:txPr>
              <a:bodyPr/>
              <a:lstStyle/>
              <a:p>
                <a:pPr>
                  <a:defRPr b="1" i="0" strike="noStrike" sz="1100" u="none">
                    <a:solidFill>
                      <a:srgbClr val="2A2D34"/>
                    </a:solidFill>
                    <a:latin typeface="Arial"/>
                  </a:defRPr>
                </a:pPr>
              </a:p>
            </c:txPr>
            <c:showLegendKey val="0"/>
            <c:showVal val="1"/>
            <c:showCatName val="0"/>
            <c:showSerName val="0"/>
            <c:showPercent val="0"/>
            <c:showBubbleSize val="0"/>
            <c:showLeaderLines val="0"/>
          </c:dLbls>
          <c:cat>
            <c:multiLvlStrRef>
              <c:f>Sheet1!$A$2:$A$9</c:f>
              <c:multiLvlStrCache>
                <c:ptCount val="8"/>
                <c:lvl>
                  <c:pt idx="0">
                    <c:v>≤40</c:v>
                  </c:pt>
                  <c:pt idx="1">
                    <c:v>40–55</c:v>
                  </c:pt>
                  <c:pt idx="2">
                    <c:v>55–70</c:v>
                  </c:pt>
                  <c:pt idx="3">
                    <c:v>70–85</c:v>
                  </c:pt>
                  <c:pt idx="4">
                    <c:v>85–100</c:v>
                  </c:pt>
                  <c:pt idx="5">
                    <c:v>100–130</c:v>
                  </c:pt>
                  <c:pt idx="6">
                    <c:v>130–200</c:v>
                  </c:pt>
                  <c:pt idx="7">
                    <c:v>&gt;200</c:v>
                  </c:pt>
                </c:lvl>
              </c:multiLvlStrCache>
            </c:multiLvlStrRef>
          </c:cat>
          <c:val>
            <c:numRef>
              <c:f>Sheet1!$B$2:$B$9</c:f>
              <c:numCache>
                <c:formatCode>General</c:formatCode>
                <c:ptCount val="8"/>
                <c:pt idx="0">
                  <c:v>2</c:v>
                </c:pt>
                <c:pt idx="1">
                  <c:v>0</c:v>
                </c:pt>
                <c:pt idx="2">
                  <c:v>0</c:v>
                </c:pt>
                <c:pt idx="3">
                  <c:v>0</c:v>
                </c:pt>
                <c:pt idx="4">
                  <c:v>0</c:v>
                </c:pt>
                <c:pt idx="5">
                  <c:v>0</c:v>
                </c:pt>
                <c:pt idx="6">
                  <c:v>6</c:v>
                </c:pt>
                <c:pt idx="7">
                  <c:v>28</c:v>
                </c:pt>
              </c:numCache>
            </c:numRef>
          </c:val>
        </c:ser>
        <c:dLbls>
          <c:numFmt formatCode="+0&quot;%&quot;;-0&quot;%&quot;;0&quot;%&quot;" sourceLinked="0"/>
          <c:txPr>
            <a:bodyPr/>
            <a:lstStyle/>
            <a:p>
              <a:pPr>
                <a:defRPr b="1" i="0" strike="noStrike" sz="1100" u="none">
                  <a:solidFill>
                    <a:srgbClr val="2A2D3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A2D34"/>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2D34"/>
                </a:solidFill>
                <a:latin typeface="Arial"/>
              </a:defRPr>
            </a:pPr>
            <a:r>
              <a:rPr sz="1300" b="0" i="0" u="none" strike="noStrike">
                <a:solidFill>
                  <a:srgbClr val="2A2D34"/>
                </a:solidFill>
                <a:latin typeface="Arial"/>
              </a:rPr>
              <a:t>TP.HCM: km tới ga metro → giá/m² so với quận</a:t>
            </a:r>
          </a:p>
        </c:rich>
      </c:tx>
      <c:layout/>
      <c:overlay val="0"/>
    </c:title>
    <c:autoTitleDeleted val="0"/>
    <c:plotArea>
      <c:layout/>
      <c:barChart>
        <c:barDir val="col"/>
        <c:grouping val="clustered"/>
        <c:varyColors val="0"/>
        <c:ser>
          <c:idx val="0"/>
          <c:order val="0"/>
          <c:tx>
            <c:strRef>
              <c:f>Sheet1!$B$1</c:f>
              <c:strCache>
                <c:ptCount val="1"/>
                <c:pt idx="0">
                  <c:v>% so với quận</c:v>
                </c:pt>
              </c:strCache>
            </c:strRef>
          </c:tx>
          <c:spPr>
            <a:solidFill>
              <a:srgbClr val="A50E1F"/>
            </a:solidFill>
            <a:effectLst/>
          </c:spPr>
          <c:invertIfNegative val="0"/>
          <c:dLbls>
            <c:numFmt formatCode="+0&quot;%&quot;;-0&quot;%&quot;;0&quot;%&quot;" sourceLinked="0"/>
            <c:txPr>
              <a:bodyPr/>
              <a:lstStyle/>
              <a:p>
                <a:pPr>
                  <a:defRPr b="1" i="0" strike="noStrike" sz="1100" u="none">
                    <a:solidFill>
                      <a:srgbClr val="2A2D34"/>
                    </a:solidFill>
                    <a:latin typeface="Arial"/>
                  </a:defRPr>
                </a:pPr>
              </a:p>
            </c:txPr>
            <c:showLegendKey val="0"/>
            <c:showVal val="1"/>
            <c:showCatName val="0"/>
            <c:showSerName val="0"/>
            <c:showPercent val="0"/>
            <c:showBubbleSize val="0"/>
            <c:showLeaderLines val="0"/>
          </c:dLbls>
          <c:cat>
            <c:multiLvlStrRef>
              <c:f>Sheet1!$A$2:$A$7</c:f>
              <c:multiLvlStrCache>
                <c:ptCount val="6"/>
                <c:lvl>
                  <c:pt idx="0">
                    <c:v>≤0,5</c:v>
                  </c:pt>
                  <c:pt idx="1">
                    <c:v>0,5–1</c:v>
                  </c:pt>
                  <c:pt idx="2">
                    <c:v>1–2</c:v>
                  </c:pt>
                  <c:pt idx="3">
                    <c:v>2–5</c:v>
                  </c:pt>
                  <c:pt idx="4">
                    <c:v>5–10</c:v>
                  </c:pt>
                  <c:pt idx="5">
                    <c:v>&gt;10</c:v>
                  </c:pt>
                </c:lvl>
              </c:multiLvlStrCache>
            </c:multiLvlStrRef>
          </c:cat>
          <c:val>
            <c:numRef>
              <c:f>Sheet1!$B$2:$B$7</c:f>
              <c:numCache>
                <c:formatCode>General</c:formatCode>
                <c:ptCount val="6"/>
                <c:pt idx="0">
                  <c:v>54</c:v>
                </c:pt>
                <c:pt idx="1">
                  <c:v>36</c:v>
                </c:pt>
                <c:pt idx="2">
                  <c:v>15</c:v>
                </c:pt>
                <c:pt idx="3">
                  <c:v>-3</c:v>
                </c:pt>
                <c:pt idx="4">
                  <c:v>-2</c:v>
                </c:pt>
                <c:pt idx="5">
                  <c:v>-11</c:v>
                </c:pt>
              </c:numCache>
            </c:numRef>
          </c:val>
        </c:ser>
        <c:dLbls>
          <c:numFmt formatCode="+0&quot;%&quot;;-0&quot;%&quot;;0&quot;%&quot;" sourceLinked="0"/>
          <c:txPr>
            <a:bodyPr/>
            <a:lstStyle/>
            <a:p>
              <a:pPr>
                <a:defRPr b="1" i="0" strike="noStrike" sz="1100" u="none">
                  <a:solidFill>
                    <a:srgbClr val="2A2D3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A2D34"/>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2D34"/>
                </a:solidFill>
                <a:latin typeface="Arial"/>
              </a:defRPr>
            </a:pPr>
            <a:r>
              <a:rPr sz="1300" b="0" i="0" u="none" strike="noStrike">
                <a:solidFill>
                  <a:srgbClr val="2A2D34"/>
                </a:solidFill>
                <a:latin typeface="Arial"/>
              </a:rPr>
              <a:t>Loại căn so với căn thường cùng quận</a:t>
            </a:r>
          </a:p>
        </c:rich>
      </c:tx>
      <c:layout/>
      <c:overlay val="0"/>
    </c:title>
    <c:autoTitleDeleted val="0"/>
    <c:plotArea>
      <c:layout/>
      <c:barChart>
        <c:barDir val="bar"/>
        <c:grouping val="clustered"/>
        <c:varyColors val="0"/>
        <c:ser>
          <c:idx val="0"/>
          <c:order val="0"/>
          <c:tx>
            <c:strRef>
              <c:f>Sheet1!$B$1</c:f>
              <c:strCache>
                <c:ptCount val="1"/>
                <c:pt idx="0">
                  <c:v>% so với quận</c:v>
                </c:pt>
              </c:strCache>
            </c:strRef>
          </c:tx>
          <c:spPr>
            <a:solidFill>
              <a:srgbClr val="2A2D34"/>
            </a:solidFill>
            <a:effectLst/>
          </c:spPr>
          <c:invertIfNegative val="0"/>
          <c:dLbls>
            <c:numFmt formatCode="+0&quot;%&quot;;-0&quot;%&quot;;0&quot;%&quot;" sourceLinked="0"/>
            <c:txPr>
              <a:bodyPr/>
              <a:lstStyle/>
              <a:p>
                <a:pPr>
                  <a:defRPr b="1" i="0" strike="noStrike" sz="1100" u="none">
                    <a:solidFill>
                      <a:srgbClr val="2A2D34"/>
                    </a:solidFill>
                    <a:latin typeface="Arial"/>
                  </a:defRPr>
                </a:pPr>
              </a:p>
            </c:txPr>
            <c:showLegendKey val="0"/>
            <c:showVal val="1"/>
            <c:showCatName val="0"/>
            <c:showSerName val="0"/>
            <c:showPercent val="0"/>
            <c:showBubbleSize val="0"/>
            <c:showLeaderLines val="0"/>
          </c:dLbls>
          <c:cat>
            <c:multiLvlStrRef>
              <c:f>Sheet1!$A$2:$A$9</c:f>
              <c:multiLvlStrCache>
                <c:ptCount val="8"/>
                <c:lvl>
                  <c:pt idx="0">
                    <c:v>Chung cư mini</c:v>
                  </c:pt>
                  <c:pt idx="1">
                    <c:v>Tập thể cũ</c:v>
                  </c:pt>
                  <c:pt idx="2">
                    <c:v>Nhà ở xã hội</c:v>
                  </c:pt>
                  <c:pt idx="3">
                    <c:v>Studio</c:v>
                  </c:pt>
                  <c:pt idx="4">
                    <c:v>Đang mở bán</c:v>
                  </c:pt>
                  <c:pt idx="5">
                    <c:v>Thông tầng</c:v>
                  </c:pt>
                  <c:pt idx="6">
                    <c:v>Penthouse</c:v>
                  </c:pt>
                  <c:pt idx="7">
                    <c:v>Sắp mở bán</c:v>
                  </c:pt>
                </c:lvl>
              </c:multiLvlStrCache>
            </c:multiLvlStrRef>
          </c:cat>
          <c:val>
            <c:numRef>
              <c:f>Sheet1!$B$2:$B$9</c:f>
              <c:numCache>
                <c:formatCode>General</c:formatCode>
                <c:ptCount val="8"/>
                <c:pt idx="0">
                  <c:v>-54</c:v>
                </c:pt>
                <c:pt idx="1">
                  <c:v>-41</c:v>
                </c:pt>
                <c:pt idx="2">
                  <c:v>-27</c:v>
                </c:pt>
                <c:pt idx="3">
                  <c:v>5</c:v>
                </c:pt>
                <c:pt idx="4">
                  <c:v>15</c:v>
                </c:pt>
                <c:pt idx="5">
                  <c:v>17</c:v>
                </c:pt>
                <c:pt idx="6">
                  <c:v>20</c:v>
                </c:pt>
                <c:pt idx="7">
                  <c:v>38</c:v>
                </c:pt>
              </c:numCache>
            </c:numRef>
          </c:val>
        </c:ser>
        <c:dLbls>
          <c:numFmt formatCode="+0&quot;%&quot;;-0&quot;%&quot;;0&quot;%&quot;" sourceLinked="0"/>
          <c:txPr>
            <a:bodyPr/>
            <a:lstStyle/>
            <a:p>
              <a:pPr>
                <a:defRPr b="1" i="0" strike="noStrike" sz="1100" u="none">
                  <a:solidFill>
                    <a:srgbClr val="2A2D3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A2D34"/>
                </a:solidFill>
                <a:latin typeface="Arial"/>
              </a:defRPr>
            </a:pPr>
            <a:endParaRPr lang="en-US"/>
          </a:p>
        </c:txPr>
        <c:crossAx val="2094734552"/>
        <c:crosses val="autoZero"/>
        <c:auto val="1"/>
        <c:lblAlgn val="ctr"/>
        <c:noMultiLvlLbl val="1"/>
      </c:catAx>
      <c:valAx>
        <c:axId val="2094734552"/>
        <c:scaling>
          <c:orientation val="minMax"/>
          <c:max val="50"/>
          <c:min val="-8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2D34"/>
                </a:solidFill>
                <a:latin typeface="Arial"/>
              </a:defRPr>
            </a:pPr>
            <a:r>
              <a:rPr sz="1300" b="0" i="0" u="none" strike="noStrike">
                <a:solidFill>
                  <a:srgbClr val="2A2D34"/>
                </a:solidFill>
                <a:latin typeface="Arial"/>
              </a:rPr>
              <a:t>MAPE trên 5 fold CV — mỗi cột thêm đúng một nhóm feature</a:t>
            </a:r>
          </a:p>
        </c:rich>
      </c:tx>
      <c:layout/>
      <c:overlay val="0"/>
    </c:title>
    <c:autoTitleDeleted val="0"/>
    <c:plotArea>
      <c:layout/>
      <c:barChart>
        <c:barDir val="col"/>
        <c:grouping val="clustered"/>
        <c:varyColors val="0"/>
        <c:ser>
          <c:idx val="0"/>
          <c:order val="0"/>
          <c:tx>
            <c:strRef>
              <c:f>Sheet1!$B$1</c:f>
              <c:strCache>
                <c:ptCount val="1"/>
                <c:pt idx="0">
                  <c:v>MAPE %</c:v>
                </c:pt>
              </c:strCache>
            </c:strRef>
          </c:tx>
          <c:spPr>
            <a:solidFill>
              <a:srgbClr val="B8B9BE"/>
            </a:solidFill>
            <a:effectLst/>
          </c:spPr>
          <c:invertIfNegative val="0"/>
          <c:dLbls>
            <c:numFmt formatCode="0.0&quot;%&quot;" sourceLinked="0"/>
            <c:txPr>
              <a:bodyPr/>
              <a:lstStyle/>
              <a:p>
                <a:pPr>
                  <a:defRPr b="1" i="0" strike="noStrike" sz="1100" u="none">
                    <a:solidFill>
                      <a:srgbClr val="2A2D34"/>
                    </a:solidFill>
                    <a:latin typeface="Arial"/>
                  </a:defRPr>
                </a:pPr>
              </a:p>
            </c:txPr>
            <c:showLegendKey val="0"/>
            <c:showVal val="1"/>
            <c:showCatName val="0"/>
            <c:showSerName val="0"/>
            <c:showPercent val="0"/>
            <c:showBubbleSize val="0"/>
            <c:showLeaderLines val="0"/>
          </c:dLbls>
          <c:dPt>
            <c:idx val="0"/>
            <c:invertIfNegative val="0"/>
            <c:bubble3D val="0"/>
            <c:spPr>
              <a:solidFill>
                <a:srgbClr val="B8B9BE"/>
              </a:solidFill>
              <a:effectLst/>
            </c:spPr>
          </c:dPt>
          <c:dPt>
            <c:idx val="1"/>
            <c:invertIfNegative val="0"/>
            <c:bubble3D val="0"/>
            <c:spPr>
              <a:solidFill>
                <a:srgbClr val="2A2D34"/>
              </a:solidFill>
              <a:effectLst/>
            </c:spPr>
          </c:dPt>
          <c:dPt>
            <c:idx val="2"/>
            <c:invertIfNegative val="0"/>
            <c:bubble3D val="0"/>
            <c:spPr>
              <a:solidFill>
                <a:srgbClr val="A50E1F"/>
              </a:solidFill>
              <a:effectLst/>
            </c:spPr>
          </c:dPt>
          <c:dPt>
            <c:idx val="3"/>
            <c:invertIfNegative val="0"/>
            <c:bubble3D val="0"/>
            <c:spPr>
              <a:solidFill>
                <a:srgbClr val="A50E1F"/>
              </a:solidFill>
              <a:effectLst/>
            </c:spPr>
          </c:dPt>
          <c:dPt>
            <c:idx val="4"/>
            <c:invertIfNegative val="0"/>
            <c:bubble3D val="0"/>
            <c:spPr>
              <a:solidFill>
                <a:srgbClr val="A50E1F"/>
              </a:solidFill>
              <a:effectLst/>
            </c:spPr>
          </c:dPt>
          <c:dPt>
            <c:idx val="5"/>
            <c:invertIfNegative val="0"/>
            <c:bubble3D val="0"/>
            <c:spPr>
              <a:solidFill>
                <a:srgbClr val="A50E1F"/>
              </a:solidFill>
              <a:effectLst/>
            </c:spPr>
          </c:dPt>
          <c:dPt>
            <c:idx val="6"/>
            <c:invertIfNegative val="0"/>
            <c:bubble3D val="0"/>
            <c:spPr>
              <a:solidFill>
                <a:srgbClr val="A50E1F"/>
              </a:solidFill>
              <a:effectLst/>
            </c:spPr>
          </c:dPt>
          <c:dPt>
            <c:idx val="7"/>
            <c:invertIfNegative val="0"/>
            <c:bubble3D val="0"/>
            <c:spPr>
              <a:solidFill>
                <a:srgbClr val="A50E1F"/>
              </a:solidFill>
              <a:effectLst/>
            </c:spPr>
          </c:dPt>
          <c:cat>
            <c:multiLvlStrRef>
              <c:f>Sheet1!$A$2:$A$9</c:f>
              <c:multiLvlStrCache>
                <c:ptCount val="8"/>
                <c:lvl>
                  <c:pt idx="0">
                    <c:v>Baseline B1</c:v>
                  </c:pt>
                  <c:pt idx="1">
                    <c:v>Chỉ căn hộ</c:v>
                  </c:pt>
                  <c:pt idx="2">
                    <c:v>+ Vị trí hành chính</c:v>
                  </c:pt>
                  <c:pt idx="3">
                    <c:v>+ Dự án</c:v>
                  </c:pt>
                  <c:pt idx="4">
                    <c:v>+ Tọa độ</c:v>
                  </c:pt>
                  <c:pt idx="5">
                    <c:v>+ Giá hàng xóm</c:v>
                  </c:pt>
                  <c:pt idx="6">
                    <c:v>+ Tiện ích</c:v>
                  </c:pt>
                  <c:pt idx="7">
                    <c:v>+ Kinh tế tỉnh</c:v>
                  </c:pt>
                </c:lvl>
              </c:multiLvlStrCache>
            </c:multiLvlStrRef>
          </c:cat>
          <c:val>
            <c:numRef>
              <c:f>Sheet1!$B$2:$B$9</c:f>
              <c:numCache>
                <c:formatCode>General</c:formatCode>
                <c:ptCount val="8"/>
                <c:pt idx="0">
                  <c:v>30.1</c:v>
                </c:pt>
                <c:pt idx="1">
                  <c:v>36.7</c:v>
                </c:pt>
                <c:pt idx="2">
                  <c:v>26.6</c:v>
                </c:pt>
                <c:pt idx="3">
                  <c:v>26.3</c:v>
                </c:pt>
                <c:pt idx="4">
                  <c:v>25.2</c:v>
                </c:pt>
                <c:pt idx="5">
                  <c:v>24.9</c:v>
                </c:pt>
                <c:pt idx="6">
                  <c:v>24.5</c:v>
                </c:pt>
                <c:pt idx="7">
                  <c:v>24.4</c:v>
                </c:pt>
              </c:numCache>
            </c:numRef>
          </c:val>
        </c:ser>
        <c:dLbls>
          <c:numFmt formatCode="0.0&quot;%&quot;" sourceLinked="0"/>
          <c:txPr>
            <a:bodyPr/>
            <a:lstStyle/>
            <a:p>
              <a:pPr>
                <a:defRPr b="1" i="0" strike="noStrike" sz="1100" u="none">
                  <a:solidFill>
                    <a:srgbClr val="2A2D3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A2D34"/>
                </a:solidFill>
                <a:latin typeface="Arial"/>
              </a:defRPr>
            </a:pPr>
            <a:endParaRPr lang="en-US"/>
          </a:p>
        </c:txPr>
        <c:crossAx val="2094734552"/>
        <c:crosses val="autoZero"/>
        <c:auto val="1"/>
        <c:lblAlgn val="ctr"/>
        <c:noMultiLvlLbl val="1"/>
      </c:catAx>
      <c:valAx>
        <c:axId val="2094734552"/>
        <c:scaling>
          <c:orientation val="minMax"/>
          <c:max val="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2D34"/>
                </a:solidFill>
                <a:latin typeface="Arial"/>
              </a:defRPr>
            </a:pPr>
            <a:r>
              <a:rPr sz="1300" b="0" i="0" u="none" strike="noStrike">
                <a:solidFill>
                  <a:srgbClr val="2A2D34"/>
                </a:solidFill>
                <a:latin typeface="Arial"/>
              </a:rPr>
              <a:t>MAPE theo nhóm (dự đoán out-of-fold)</a:t>
            </a:r>
          </a:p>
        </c:rich>
      </c:tx>
      <c:layout/>
      <c:overlay val="0"/>
    </c:title>
    <c:autoTitleDeleted val="0"/>
    <c:plotArea>
      <c:layout/>
      <c:barChart>
        <c:barDir val="bar"/>
        <c:grouping val="clustered"/>
        <c:varyColors val="0"/>
        <c:ser>
          <c:idx val="0"/>
          <c:order val="0"/>
          <c:tx>
            <c:strRef>
              <c:f>Sheet1!$B$1</c:f>
              <c:strCache>
                <c:ptCount val="1"/>
                <c:pt idx="0">
                  <c:v>MAPE %</c:v>
                </c:pt>
              </c:strCache>
            </c:strRef>
          </c:tx>
          <c:spPr>
            <a:solidFill>
              <a:srgbClr val="A50E1F"/>
            </a:solidFill>
            <a:effectLst/>
          </c:spPr>
          <c:invertIfNegative val="0"/>
          <c:dLbls>
            <c:numFmt formatCode="0.0&quot;%&quot;" sourceLinked="0"/>
            <c:txPr>
              <a:bodyPr/>
              <a:lstStyle/>
              <a:p>
                <a:pPr>
                  <a:defRPr b="1" i="0" strike="noStrike" sz="1100" u="none">
                    <a:solidFill>
                      <a:srgbClr val="2A2D34"/>
                    </a:solidFill>
                    <a:latin typeface="Arial"/>
                  </a:defRPr>
                </a:pPr>
              </a:p>
            </c:txPr>
            <c:showLegendKey val="0"/>
            <c:showVal val="1"/>
            <c:showCatName val="0"/>
            <c:showSerName val="0"/>
            <c:showPercent val="0"/>
            <c:showBubbleSize val="0"/>
            <c:showLeaderLines val="0"/>
          </c:dLbls>
          <c:cat>
            <c:multiLvlStrRef>
              <c:f>Sheet1!$A$2:$A$10</c:f>
              <c:multiLvlStrCache>
                <c:ptCount val="9"/>
                <c:lvl>
                  <c:pt idx="0">
                    <c:v>Toàn bộ</c:v>
                  </c:pt>
                  <c:pt idx="1">
                    <c:v>Hà Nội</c:v>
                  </c:pt>
                  <c:pt idx="2">
                    <c:v>TP.HCM</c:v>
                  </c:pt>
                  <c:pt idx="3">
                    <c:v>Tỉnh nhóm 2</c:v>
                  </c:pt>
                  <c:pt idx="4">
                    <c:v>Chợ Tốt</c:v>
                  </c:pt>
                  <c:pt idx="5">
                    <c:v>guland</c:v>
                  </c:pt>
                  <c:pt idx="6">
                    <c:v>20% tin rẻ nhất</c:v>
                  </c:pt>
                  <c:pt idx="7">
                    <c:v>Penthouse</c:v>
                  </c:pt>
                  <c:pt idx="8">
                    <c:v>Giá cực đoan</c:v>
                  </c:pt>
                </c:lvl>
              </c:multiLvlStrCache>
            </c:multiLvlStrRef>
          </c:cat>
          <c:val>
            <c:numRef>
              <c:f>Sheet1!$B$2:$B$10</c:f>
              <c:numCache>
                <c:formatCode>General</c:formatCode>
                <c:ptCount val="9"/>
                <c:pt idx="0">
                  <c:v>24.4</c:v>
                </c:pt>
                <c:pt idx="1">
                  <c:v>21.4</c:v>
                </c:pt>
                <c:pt idx="2">
                  <c:v>24.9</c:v>
                </c:pt>
                <c:pt idx="3">
                  <c:v>26.8</c:v>
                </c:pt>
                <c:pt idx="4">
                  <c:v>26</c:v>
                </c:pt>
                <c:pt idx="5">
                  <c:v>25.6</c:v>
                </c:pt>
                <c:pt idx="6">
                  <c:v>36.2</c:v>
                </c:pt>
                <c:pt idx="7">
                  <c:v>42.9</c:v>
                </c:pt>
                <c:pt idx="8">
                  <c:v>47.1</c:v>
                </c:pt>
              </c:numCache>
            </c:numRef>
          </c:val>
        </c:ser>
        <c:dLbls>
          <c:numFmt formatCode="0.0&quot;%&quot;" sourceLinked="0"/>
          <c:txPr>
            <a:bodyPr/>
            <a:lstStyle/>
            <a:p>
              <a:pPr>
                <a:defRPr b="1" i="0" strike="noStrike" sz="1100" u="none">
                  <a:solidFill>
                    <a:srgbClr val="2A2D3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A2D34"/>
                </a:solidFill>
                <a:latin typeface="Arial"/>
              </a:defRPr>
            </a:pPr>
            <a:endParaRPr lang="en-US"/>
          </a:p>
        </c:txPr>
        <c:crossAx val="2094734552"/>
        <c:crosses val="autoZero"/>
        <c:auto val="1"/>
        <c:lblAlgn val="ctr"/>
        <c:noMultiLvlLbl val="1"/>
      </c:catAx>
      <c:valAx>
        <c:axId val="2094734552"/>
        <c:scaling>
          <c:orientation val="minMax"/>
          <c:max val="5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sprint này chuyển từ dữ liệu sang mô hình — chốt cách chia dữ liệu và baseline, phân tích khám phá (EDA) để quyết định feature, rồi tạo feature và chạy mô hình đầu tiên. Trong quá trình làm, EDA và phân tích lỗi tìm ra thêm lỗi dữ liệu và đã sửa (v4, v5).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con số chính. Dữ liệu làm việc hiện là v5: hai lần sửa thêm trong sprint này đều do EDA và phân tích lỗi phát hiện. Mô hình đầu tiên chưa tinh chỉnh đã giảm sai số trung bình từ khoảng 30% xuống 24,4% trên kiểm định chéo 5 fold; tập test chưa được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chia ngẫu nhiên theo tin, cùng một tòa nhà sẽ nằm ở cả hai phía và điểm số đẹp giả. Ba luật nối nhóm, có tính bắc cầu. Tập test 14,4% được phân tầng theo vùng và nguồn nên tỷ lệ hai phía gần như bằng nhau. Tập test chỉ dùng một lần ở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là mốc sàn. Hai baseline đều quanh 30%. Chỉ số chính là MAPE, nhưng luôn xem cùng MdAPE vì giá nhà có đuôi dài. Mọi lần chạy được ghi vào sổ thí nghiệm.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Điều chỉnh so với báo cáo sprint 2: con số 20–33% là so gộp theo vùng. Khi so đúng cùng một dự án, ba nguồn rao như nhau. Đây là bẫy thành phần: giống so giá trung bình của hai cửa hàng bán hai loại hàng khác nhau. Vì vậy không đưa nguồn tin vào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2: biết quận giải thích khoảng một nửa, phường 65%, dự án 78% (con số này lạc quan vì đơn vị nhỏ). Câu 3: khi so toàn bộ, căn to có vẻ đắt hơn mỗi m², nhưng trong cùng dự án thì gần như phẳng, trừ căn rất lớn. Căn to chỉ hay nằm ở dự án đắt — lại là bẫy thành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4: căn gần ga metro ở TP.HCM đắt hơn mức thường của quận tới 54% — không chứng minh metro làm tăng giá (tuyến 1 đi qua khu cao cấp), nhưng giúp dự đoán. Câu 5: chung cư mini, tập thể, nhà ở xã hội rẻ hơn 27–54%; dự án mới đắt hơn. Nhóm nhỏ vài trăm căn nên sai số ở nhóm này sẽ cao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 tin có giá/m² lệch quá 2,5 lần mức thường của phường được đọc tay. Bản v4 sửa theo EDA; bản v5 sửa theo phân tích lỗi của mô hình đầu tiên. Còn khoảng 20 nhà phố của một người đăng guland chưa bắt được bằng luật an toàn — đã ghi vào danh sách vấn đề đã biết.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là các ô thông tin máy học dùng. Mỗi nhóm có lý do từ EDA. Nội thất và hướng được gộp nhãn giữa các nguồn trước khi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nhóm giá khu vực và giá hàng xóm mạnh nhất nhưng dễ rò rỉ nhất, nên có ba lớp chặn. Rủi ro còn lại: ô trống tiết lộ nguồn tin; đo trực tiếp bằng mô hình bỏ các feature này thì kết quả gần như không đổi, nên giữ bộ đầy đủ và ghi rõ trong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HistGradientBoosting, tham số mặc định, chưa tinh chỉnh. Mỗi tầng thêm đúng một nhóm nên chênh lệch giữa hai cột liền nhau là giá trị của nhóm vừa thêm. Chênh lệch nhỏ hơn độ lệch giữa các fold được coi là không khác biệt. Kinh tế tỉnh gần như không thêm gì, đúng như EDA dự đoán.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tay 25 tin sai nặng nhất. Phần lớn là chung cư mini mượn tên khu và nhà ở xã hội chưa gắn nhãn — đã sửa thành v5 và sai số nhóm này giảm gần một nửa. Nhóm khó còn lại: căn hạng sang và tin có giá chỉ là tiền trả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rủi ro đều đã có cách đo hoặc kiểm soát trong kế hoạch.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tiếp theo theo đúng thứ tự trong quy trình: phân tích lỗi thêm một vòng, thử mô hình khác, tinh chỉnh cuối cùng, giải thích bằng SHAP, rồi mới đánh giá tập test một lần duy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5120640" y="0"/>
            <a:ext cx="7071055" cy="4572000"/>
          </a:xfrm>
          <a:prstGeom prst="rtTriangle">
            <a:avLst/>
          </a:prstGeom>
          <a:solidFill>
            <a:srgbClr val="A50E1F"/>
          </a:solidFill>
          <a:ln w="12700">
            <a:solidFill>
              <a:srgbClr val="A50E1F"/>
            </a:solidFill>
            <a:prstDash val="solid"/>
          </a:ln>
        </p:spPr>
      </p:sp>
      <p:pic>
        <p:nvPicPr>
          <p:cNvPr id="3" name="Image 0" descr="preencoded.png">    </p:cNvPr>
          <p:cNvPicPr>
            <a:picLocks noChangeAspect="1"/>
          </p:cNvPicPr>
          <p:nvPr/>
        </p:nvPicPr>
        <p:blipFill>
          <a:blip r:embed="rId1"/>
          <a:stretch>
            <a:fillRect/>
          </a:stretch>
        </p:blipFill>
        <p:spPr>
          <a:xfrm>
            <a:off x="6766560" y="1417320"/>
            <a:ext cx="5440680" cy="5440680"/>
          </a:xfrm>
          <a:prstGeom prst="rect">
            <a:avLst/>
          </a:prstGeom>
        </p:spPr>
      </p:pic>
      <p:sp>
        <p:nvSpPr>
          <p:cNvPr id="4" name="Shape 1"/>
          <p:cNvSpPr/>
          <p:nvPr/>
        </p:nvSpPr>
        <p:spPr>
          <a:xfrm flipH="1">
            <a:off x="7589520" y="4480560"/>
            <a:ext cx="2926080" cy="2377440"/>
          </a:xfrm>
          <a:prstGeom prst="rtTriangle">
            <a:avLst/>
          </a:prstGeom>
          <a:solidFill>
            <a:srgbClr val="E8505B">
              <a:alpha val="85000"/>
            </a:srgbClr>
          </a:solidFill>
          <a:ln w="12700">
            <a:solidFill>
              <a:srgbClr val="E8505B"/>
            </a:solidFill>
            <a:prstDash val="solid"/>
          </a:ln>
        </p:spPr>
      </p:sp>
      <p:sp>
        <p:nvSpPr>
          <p:cNvPr id="5" name="Shape 2"/>
          <p:cNvSpPr/>
          <p:nvPr/>
        </p:nvSpPr>
        <p:spPr>
          <a:xfrm flipH="1">
            <a:off x="10424160" y="3566160"/>
            <a:ext cx="1767535" cy="2011680"/>
          </a:xfrm>
          <a:prstGeom prst="rtTriangle">
            <a:avLst/>
          </a:prstGeom>
          <a:solidFill>
            <a:srgbClr val="A50E1F"/>
          </a:solidFill>
          <a:ln w="12700">
            <a:solidFill>
              <a:srgbClr val="A50E1F"/>
            </a:solidFill>
            <a:prstDash val="solid"/>
          </a:ln>
        </p:spPr>
      </p:sp>
      <p:sp>
        <p:nvSpPr>
          <p:cNvPr id="6" name="Text 3"/>
          <p:cNvSpPr txBox="1"/>
          <p:nvPr/>
        </p:nvSpPr>
        <p:spPr>
          <a:xfrm>
            <a:off x="731520" y="640080"/>
            <a:ext cx="4572000" cy="365760"/>
          </a:xfrm>
          <a:prstGeom prst="rect">
            <a:avLst/>
          </a:prstGeom>
          <a:noFill/>
          <a:ln/>
        </p:spPr>
        <p:txBody>
          <a:bodyPr wrap="square" lIns="0" tIns="0" rIns="0" bIns="0" rtlCol="0" anchor="ctr"/>
          <a:lstStyle/>
          <a:p>
            <a:pPr indent="0" marL="0">
              <a:buNone/>
            </a:pPr>
            <a:r>
              <a:rPr lang="en-US" sz="1400" dirty="0">
                <a:solidFill>
                  <a:srgbClr val="2A2D34"/>
                </a:solidFill>
                <a:latin typeface="Arial" pitchFamily="34" charset="0"/>
                <a:ea typeface="Arial" pitchFamily="34" charset="-122"/>
                <a:cs typeface="Arial" pitchFamily="34" charset="-120"/>
              </a:rPr>
              <a:t>Housing Price Prediction</a:t>
            </a:r>
            <a:endParaRPr lang="en-US" sz="1400" dirty="0"/>
          </a:p>
        </p:txBody>
      </p:sp>
      <p:sp>
        <p:nvSpPr>
          <p:cNvPr id="7" name="Text 4"/>
          <p:cNvSpPr txBox="1"/>
          <p:nvPr/>
        </p:nvSpPr>
        <p:spPr>
          <a:xfrm>
            <a:off x="8686800" y="502920"/>
            <a:ext cx="3017520" cy="457200"/>
          </a:xfrm>
          <a:prstGeom prst="rect">
            <a:avLst/>
          </a:prstGeom>
          <a:noFill/>
          <a:ln/>
        </p:spPr>
        <p:txBody>
          <a:bodyPr wrap="square" lIns="0" tIns="0" rIns="0" bIns="0" rtlCol="0" anchor="ctr"/>
          <a:lstStyle/>
          <a:p>
            <a:pPr algn="r" indent="0" marL="0">
              <a:buNone/>
            </a:pPr>
            <a:r>
              <a:rPr lang="en-US" sz="1800" b="1" dirty="0">
                <a:solidFill>
                  <a:srgbClr val="FFFFFF"/>
                </a:solidFill>
                <a:latin typeface="Arial" pitchFamily="34" charset="0"/>
                <a:ea typeface="Arial" pitchFamily="34" charset="-122"/>
                <a:cs typeface="Arial" pitchFamily="34" charset="-120"/>
              </a:rPr>
              <a:t>02/10/2026</a:t>
            </a:r>
            <a:endParaRPr lang="en-US" sz="1800" dirty="0"/>
          </a:p>
        </p:txBody>
      </p:sp>
      <p:sp>
        <p:nvSpPr>
          <p:cNvPr id="8" name="Text 5"/>
          <p:cNvSpPr txBox="1"/>
          <p:nvPr/>
        </p:nvSpPr>
        <p:spPr>
          <a:xfrm>
            <a:off x="731520" y="2103120"/>
            <a:ext cx="6035040" cy="868680"/>
          </a:xfrm>
          <a:prstGeom prst="rect">
            <a:avLst/>
          </a:prstGeom>
          <a:noFill/>
          <a:ln/>
        </p:spPr>
        <p:txBody>
          <a:bodyPr wrap="square" lIns="0" tIns="0" rIns="0" bIns="0" rtlCol="0" anchor="ctr"/>
          <a:lstStyle/>
          <a:p>
            <a:pPr indent="0" marL="0">
              <a:buNone/>
            </a:pPr>
            <a:r>
              <a:rPr lang="en-US" sz="4800" b="1" dirty="0">
                <a:solidFill>
                  <a:srgbClr val="2A2D34"/>
                </a:solidFill>
                <a:latin typeface="Arial" pitchFamily="34" charset="0"/>
                <a:ea typeface="Arial" pitchFamily="34" charset="-122"/>
                <a:cs typeface="Arial" pitchFamily="34" charset="-120"/>
              </a:rPr>
              <a:t>Báo cáo tiến độ</a:t>
            </a:r>
            <a:endParaRPr lang="en-US" sz="4800" dirty="0"/>
          </a:p>
        </p:txBody>
      </p:sp>
      <p:sp>
        <p:nvSpPr>
          <p:cNvPr id="9" name="Text 6"/>
          <p:cNvSpPr txBox="1"/>
          <p:nvPr/>
        </p:nvSpPr>
        <p:spPr>
          <a:xfrm>
            <a:off x="731520" y="2926080"/>
            <a:ext cx="6035040" cy="914400"/>
          </a:xfrm>
          <a:prstGeom prst="rect">
            <a:avLst/>
          </a:prstGeom>
          <a:noFill/>
          <a:ln/>
        </p:spPr>
        <p:txBody>
          <a:bodyPr wrap="square" lIns="0" tIns="0" rIns="0" bIns="0" rtlCol="0" anchor="ctr"/>
          <a:lstStyle/>
          <a:p>
            <a:pPr indent="0" marL="0">
              <a:buNone/>
            </a:pPr>
            <a:r>
              <a:rPr lang="en-US" sz="5400" b="1" dirty="0">
                <a:solidFill>
                  <a:srgbClr val="A50E1F"/>
                </a:solidFill>
                <a:latin typeface="Arial" pitchFamily="34" charset="0"/>
                <a:ea typeface="Arial" pitchFamily="34" charset="-122"/>
                <a:cs typeface="Arial" pitchFamily="34" charset="-120"/>
              </a:rPr>
              <a:t>Sprint 3</a:t>
            </a:r>
            <a:endParaRPr lang="en-US" sz="5400" dirty="0"/>
          </a:p>
        </p:txBody>
      </p:sp>
      <p:sp>
        <p:nvSpPr>
          <p:cNvPr id="10" name="Text 7"/>
          <p:cNvSpPr txBox="1"/>
          <p:nvPr/>
        </p:nvSpPr>
        <p:spPr>
          <a:xfrm>
            <a:off x="731520" y="3977640"/>
            <a:ext cx="5669280" cy="731520"/>
          </a:xfrm>
          <a:prstGeom prst="rect">
            <a:avLst/>
          </a:prstGeom>
          <a:noFill/>
          <a:ln/>
        </p:spPr>
        <p:txBody>
          <a:bodyPr wrap="square" lIns="0" tIns="0" rIns="0" bIns="0" rtlCol="0" anchor="t"/>
          <a:lstStyle/>
          <a:p>
            <a:pPr indent="0" marL="0">
              <a:buNone/>
            </a:pPr>
            <a:r>
              <a:rPr lang="en-US" sz="1800" dirty="0">
                <a:solidFill>
                  <a:srgbClr val="2A2D34"/>
                </a:solidFill>
                <a:latin typeface="Arial" pitchFamily="34" charset="0"/>
                <a:ea typeface="Arial" pitchFamily="34" charset="-122"/>
                <a:cs typeface="Arial" pitchFamily="34" charset="-120"/>
              </a:rPr>
              <a:t>Dự đoán giá căn hộ chung cư Việt Nam — Chia dữ liệu, EDA và tạo feature (giai đoạn 3–5)</a:t>
            </a:r>
            <a:endParaRPr lang="en-US" sz="1800" dirty="0"/>
          </a:p>
        </p:txBody>
      </p:sp>
      <p:sp>
        <p:nvSpPr>
          <p:cNvPr id="11" name="Text 8"/>
          <p:cNvSpPr txBox="1"/>
          <p:nvPr/>
        </p:nvSpPr>
        <p:spPr>
          <a:xfrm>
            <a:off x="731520" y="5989320"/>
            <a:ext cx="4572000" cy="32004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Thời lượng trình bày: ~10 phút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11185855" y="0"/>
            <a:ext cx="1005840" cy="1005840"/>
          </a:xfrm>
          <a:prstGeom prst="rtTriangle">
            <a:avLst/>
          </a:prstGeom>
          <a:solidFill>
            <a:srgbClr val="A50E1F"/>
          </a:solidFill>
          <a:ln w="12700">
            <a:solidFill>
              <a:srgbClr val="A50E1F"/>
            </a:solidFill>
            <a:prstDash val="solid"/>
          </a:ln>
        </p:spPr>
      </p:sp>
      <p:sp>
        <p:nvSpPr>
          <p:cNvPr id="3" name="Shape 1"/>
          <p:cNvSpPr/>
          <p:nvPr/>
        </p:nvSpPr>
        <p:spPr>
          <a:xfrm flipH="1" flipV="1">
            <a:off x="11688775" y="0"/>
            <a:ext cx="502920" cy="1508760"/>
          </a:xfrm>
          <a:prstGeom prst="rtTriangle">
            <a:avLst/>
          </a:prstGeom>
          <a:solidFill>
            <a:srgbClr val="E8505B">
              <a:alpha val="80000"/>
            </a:srgbClr>
          </a:solidFill>
          <a:ln w="12700">
            <a:solidFill>
              <a:srgbClr val="E8505B"/>
            </a:solidFill>
            <a:prstDash val="solid"/>
          </a:ln>
        </p:spPr>
      </p:sp>
      <p:sp>
        <p:nvSpPr>
          <p:cNvPr id="4" name="Text 2"/>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TỔNG QUAN SPRINT</a:t>
            </a:r>
            <a:endParaRPr lang="en-US" sz="1200" dirty="0"/>
          </a:p>
        </p:txBody>
      </p:sp>
      <p:sp>
        <p:nvSpPr>
          <p:cNvPr id="5" name="Text 3"/>
          <p:cNvSpPr txBox="1"/>
          <p:nvPr/>
        </p:nvSpPr>
        <p:spPr>
          <a:xfrm>
            <a:off x="548640" y="658368"/>
            <a:ext cx="10241280" cy="685800"/>
          </a:xfrm>
          <a:prstGeom prst="rect">
            <a:avLst/>
          </a:prstGeom>
          <a:noFill/>
          <a:ln/>
        </p:spPr>
        <p:txBody>
          <a:bodyPr wrap="square" lIns="0" tIns="0" rIns="0" bIns="0" rtlCol="0" anchor="t"/>
          <a:lstStyle/>
          <a:p>
            <a:pPr indent="0" marL="0">
              <a:buNone/>
            </a:pPr>
            <a:r>
              <a:rPr lang="en-US" sz="3000" b="1" dirty="0">
                <a:solidFill>
                  <a:srgbClr val="2A2D34"/>
                </a:solidFill>
                <a:latin typeface="Arial" pitchFamily="34" charset="0"/>
                <a:ea typeface="Arial" pitchFamily="34" charset="-122"/>
                <a:cs typeface="Arial" pitchFamily="34" charset="-120"/>
              </a:rPr>
              <a:t>Từ dữ liệu sạch tới mô hình đầu tiên</a:t>
            </a:r>
            <a:endParaRPr lang="en-US" sz="3000" dirty="0"/>
          </a:p>
        </p:txBody>
      </p:sp>
      <p:sp>
        <p:nvSpPr>
          <p:cNvPr id="6" name="Shape 4"/>
          <p:cNvSpPr/>
          <p:nvPr/>
        </p:nvSpPr>
        <p:spPr>
          <a:xfrm>
            <a:off x="548640" y="1691640"/>
            <a:ext cx="2606040" cy="1828800"/>
          </a:xfrm>
          <a:prstGeom prst="roundRect">
            <a:avLst>
              <a:gd name="adj" fmla="val 4000"/>
            </a:avLst>
          </a:prstGeom>
          <a:solidFill>
            <a:srgbClr val="F4F4F6"/>
          </a:solidFill>
          <a:ln w="12700">
            <a:solidFill>
              <a:srgbClr val="F4F4F6"/>
            </a:solidFill>
            <a:prstDash val="solid"/>
          </a:ln>
        </p:spPr>
      </p:sp>
      <p:sp>
        <p:nvSpPr>
          <p:cNvPr id="7" name="Text 5"/>
          <p:cNvSpPr txBox="1"/>
          <p:nvPr/>
        </p:nvSpPr>
        <p:spPr>
          <a:xfrm>
            <a:off x="822960" y="1920240"/>
            <a:ext cx="2194560" cy="685800"/>
          </a:xfrm>
          <a:prstGeom prst="rect">
            <a:avLst/>
          </a:prstGeom>
          <a:noFill/>
          <a:ln/>
        </p:spPr>
        <p:txBody>
          <a:bodyPr wrap="square" lIns="0" tIns="0" rIns="0" bIns="0" rtlCol="0" anchor="ctr"/>
          <a:lstStyle/>
          <a:p>
            <a:pPr indent="0" marL="0">
              <a:buNone/>
            </a:pPr>
            <a:r>
              <a:rPr lang="en-US" sz="4000" b="1" dirty="0">
                <a:solidFill>
                  <a:srgbClr val="A50E1F"/>
                </a:solidFill>
                <a:latin typeface="Arial" pitchFamily="34" charset="0"/>
                <a:ea typeface="Arial" pitchFamily="34" charset="-122"/>
                <a:cs typeface="Arial" pitchFamily="34" charset="-120"/>
              </a:rPr>
              <a:t>15.850</a:t>
            </a:r>
            <a:endParaRPr lang="en-US" sz="4000" dirty="0"/>
          </a:p>
        </p:txBody>
      </p:sp>
      <p:sp>
        <p:nvSpPr>
          <p:cNvPr id="8" name="Text 6"/>
          <p:cNvSpPr txBox="1"/>
          <p:nvPr/>
        </p:nvSpPr>
        <p:spPr>
          <a:xfrm>
            <a:off x="822960" y="2633472"/>
            <a:ext cx="2194560" cy="548640"/>
          </a:xfrm>
          <a:prstGeom prst="rect">
            <a:avLst/>
          </a:prstGeom>
          <a:noFill/>
          <a:ln/>
        </p:spPr>
        <p:txBody>
          <a:bodyPr wrap="square" lIns="0" tIns="0" rIns="0" bIns="0" rtlCol="0" anchor="t"/>
          <a:lstStyle/>
          <a:p>
            <a:pPr indent="0" marL="0">
              <a:buNone/>
            </a:pPr>
            <a:r>
              <a:rPr lang="en-US" sz="1300" dirty="0">
                <a:solidFill>
                  <a:srgbClr val="2A2D34"/>
                </a:solidFill>
                <a:latin typeface="Arial" pitchFamily="34" charset="0"/>
                <a:ea typeface="Arial" pitchFamily="34" charset="-122"/>
                <a:cs typeface="Arial" pitchFamily="34" charset="-120"/>
              </a:rPr>
              <a:t>dòng sạch dùng để học (dữ liệu v5)</a:t>
            </a:r>
            <a:endParaRPr lang="en-US" sz="1300" dirty="0"/>
          </a:p>
        </p:txBody>
      </p:sp>
      <p:sp>
        <p:nvSpPr>
          <p:cNvPr id="9" name="Shape 7"/>
          <p:cNvSpPr/>
          <p:nvPr/>
        </p:nvSpPr>
        <p:spPr>
          <a:xfrm>
            <a:off x="3383280" y="1691640"/>
            <a:ext cx="2606040" cy="1828800"/>
          </a:xfrm>
          <a:prstGeom prst="roundRect">
            <a:avLst>
              <a:gd name="adj" fmla="val 4000"/>
            </a:avLst>
          </a:prstGeom>
          <a:solidFill>
            <a:srgbClr val="F4F4F6"/>
          </a:solidFill>
          <a:ln w="12700">
            <a:solidFill>
              <a:srgbClr val="F4F4F6"/>
            </a:solidFill>
            <a:prstDash val="solid"/>
          </a:ln>
        </p:spPr>
      </p:sp>
      <p:sp>
        <p:nvSpPr>
          <p:cNvPr id="10" name="Text 8"/>
          <p:cNvSpPr txBox="1"/>
          <p:nvPr/>
        </p:nvSpPr>
        <p:spPr>
          <a:xfrm>
            <a:off x="3657600" y="1920240"/>
            <a:ext cx="2194560" cy="685800"/>
          </a:xfrm>
          <a:prstGeom prst="rect">
            <a:avLst/>
          </a:prstGeom>
          <a:noFill/>
          <a:ln/>
        </p:spPr>
        <p:txBody>
          <a:bodyPr wrap="square" lIns="0" tIns="0" rIns="0" bIns="0" rtlCol="0" anchor="ctr"/>
          <a:lstStyle/>
          <a:p>
            <a:pPr indent="0" marL="0">
              <a:buNone/>
            </a:pPr>
            <a:r>
              <a:rPr lang="en-US" sz="4000" b="1" dirty="0">
                <a:solidFill>
                  <a:srgbClr val="A50E1F"/>
                </a:solidFill>
                <a:latin typeface="Arial" pitchFamily="34" charset="0"/>
                <a:ea typeface="Arial" pitchFamily="34" charset="-122"/>
                <a:cs typeface="Arial" pitchFamily="34" charset="-120"/>
              </a:rPr>
              <a:t>2.728</a:t>
            </a:r>
            <a:endParaRPr lang="en-US" sz="4000" dirty="0"/>
          </a:p>
        </p:txBody>
      </p:sp>
      <p:sp>
        <p:nvSpPr>
          <p:cNvPr id="11" name="Text 9"/>
          <p:cNvSpPr txBox="1"/>
          <p:nvPr/>
        </p:nvSpPr>
        <p:spPr>
          <a:xfrm>
            <a:off x="3657600" y="2633472"/>
            <a:ext cx="2194560" cy="548640"/>
          </a:xfrm>
          <a:prstGeom prst="rect">
            <a:avLst/>
          </a:prstGeom>
          <a:noFill/>
          <a:ln/>
        </p:spPr>
        <p:txBody>
          <a:bodyPr wrap="square" lIns="0" tIns="0" rIns="0" bIns="0" rtlCol="0" anchor="t"/>
          <a:lstStyle/>
          <a:p>
            <a:pPr indent="0" marL="0">
              <a:buNone/>
            </a:pPr>
            <a:r>
              <a:rPr lang="en-US" sz="1300" dirty="0">
                <a:solidFill>
                  <a:srgbClr val="2A2D34"/>
                </a:solidFill>
                <a:latin typeface="Arial" pitchFamily="34" charset="0"/>
                <a:ea typeface="Arial" pitchFamily="34" charset="-122"/>
                <a:cs typeface="Arial" pitchFamily="34" charset="-120"/>
              </a:rPr>
              <a:t>nhóm vị trí để chia train/test không rò rỉ</a:t>
            </a:r>
            <a:endParaRPr lang="en-US" sz="1300" dirty="0"/>
          </a:p>
        </p:txBody>
      </p:sp>
      <p:sp>
        <p:nvSpPr>
          <p:cNvPr id="12" name="Shape 10"/>
          <p:cNvSpPr/>
          <p:nvPr/>
        </p:nvSpPr>
        <p:spPr>
          <a:xfrm>
            <a:off x="6217920" y="1691640"/>
            <a:ext cx="2606040" cy="1828800"/>
          </a:xfrm>
          <a:prstGeom prst="roundRect">
            <a:avLst>
              <a:gd name="adj" fmla="val 4000"/>
            </a:avLst>
          </a:prstGeom>
          <a:solidFill>
            <a:srgbClr val="F4F4F6"/>
          </a:solidFill>
          <a:ln w="12700">
            <a:solidFill>
              <a:srgbClr val="F4F4F6"/>
            </a:solidFill>
            <a:prstDash val="solid"/>
          </a:ln>
        </p:spPr>
      </p:sp>
      <p:sp>
        <p:nvSpPr>
          <p:cNvPr id="13" name="Text 11"/>
          <p:cNvSpPr txBox="1"/>
          <p:nvPr/>
        </p:nvSpPr>
        <p:spPr>
          <a:xfrm>
            <a:off x="6492240" y="1920240"/>
            <a:ext cx="2194560" cy="685800"/>
          </a:xfrm>
          <a:prstGeom prst="rect">
            <a:avLst/>
          </a:prstGeom>
          <a:noFill/>
          <a:ln/>
        </p:spPr>
        <p:txBody>
          <a:bodyPr wrap="square" lIns="0" tIns="0" rIns="0" bIns="0" rtlCol="0" anchor="ctr"/>
          <a:lstStyle/>
          <a:p>
            <a:pPr indent="0" marL="0">
              <a:buNone/>
            </a:pPr>
            <a:r>
              <a:rPr lang="en-US" sz="4000" b="1" dirty="0">
                <a:solidFill>
                  <a:srgbClr val="A50E1F"/>
                </a:solidFill>
                <a:latin typeface="Arial" pitchFamily="34" charset="0"/>
                <a:ea typeface="Arial" pitchFamily="34" charset="-122"/>
                <a:cs typeface="Arial" pitchFamily="34" charset="-120"/>
              </a:rPr>
              <a:t>38</a:t>
            </a:r>
            <a:endParaRPr lang="en-US" sz="4000" dirty="0"/>
          </a:p>
        </p:txBody>
      </p:sp>
      <p:sp>
        <p:nvSpPr>
          <p:cNvPr id="14" name="Text 12"/>
          <p:cNvSpPr txBox="1"/>
          <p:nvPr/>
        </p:nvSpPr>
        <p:spPr>
          <a:xfrm>
            <a:off x="6492240" y="2633472"/>
            <a:ext cx="2194560" cy="548640"/>
          </a:xfrm>
          <a:prstGeom prst="rect">
            <a:avLst/>
          </a:prstGeom>
          <a:noFill/>
          <a:ln/>
        </p:spPr>
        <p:txBody>
          <a:bodyPr wrap="square" lIns="0" tIns="0" rIns="0" bIns="0" rtlCol="0" anchor="t"/>
          <a:lstStyle/>
          <a:p>
            <a:pPr indent="0" marL="0">
              <a:buNone/>
            </a:pPr>
            <a:r>
              <a:rPr lang="en-US" sz="1300" dirty="0">
                <a:solidFill>
                  <a:srgbClr val="2A2D34"/>
                </a:solidFill>
                <a:latin typeface="Arial" pitchFamily="34" charset="0"/>
                <a:ea typeface="Arial" pitchFamily="34" charset="-122"/>
                <a:cs typeface="Arial" pitchFamily="34" charset="-120"/>
              </a:rPr>
              <a:t>feature trong 6 nhóm, rút ra từ 6 câu hỏi EDA</a:t>
            </a:r>
            <a:endParaRPr lang="en-US" sz="1300" dirty="0"/>
          </a:p>
        </p:txBody>
      </p:sp>
      <p:sp>
        <p:nvSpPr>
          <p:cNvPr id="15" name="Shape 13"/>
          <p:cNvSpPr/>
          <p:nvPr/>
        </p:nvSpPr>
        <p:spPr>
          <a:xfrm>
            <a:off x="9052560" y="1691640"/>
            <a:ext cx="2606040" cy="1828800"/>
          </a:xfrm>
          <a:prstGeom prst="roundRect">
            <a:avLst>
              <a:gd name="adj" fmla="val 4000"/>
            </a:avLst>
          </a:prstGeom>
          <a:solidFill>
            <a:srgbClr val="F4F4F6"/>
          </a:solidFill>
          <a:ln w="12700">
            <a:solidFill>
              <a:srgbClr val="F4F4F6"/>
            </a:solidFill>
            <a:prstDash val="solid"/>
          </a:ln>
        </p:spPr>
      </p:sp>
      <p:sp>
        <p:nvSpPr>
          <p:cNvPr id="16" name="Text 14"/>
          <p:cNvSpPr txBox="1"/>
          <p:nvPr/>
        </p:nvSpPr>
        <p:spPr>
          <a:xfrm>
            <a:off x="9326880" y="1920240"/>
            <a:ext cx="2194560" cy="685800"/>
          </a:xfrm>
          <a:prstGeom prst="rect">
            <a:avLst/>
          </a:prstGeom>
          <a:noFill/>
          <a:ln/>
        </p:spPr>
        <p:txBody>
          <a:bodyPr wrap="square" lIns="0" tIns="0" rIns="0" bIns="0" rtlCol="0" anchor="ctr"/>
          <a:lstStyle/>
          <a:p>
            <a:pPr indent="0" marL="0">
              <a:buNone/>
            </a:pPr>
            <a:r>
              <a:rPr lang="en-US" sz="4000" b="1" dirty="0">
                <a:solidFill>
                  <a:srgbClr val="A50E1F"/>
                </a:solidFill>
                <a:latin typeface="Arial" pitchFamily="34" charset="0"/>
                <a:ea typeface="Arial" pitchFamily="34" charset="-122"/>
                <a:cs typeface="Arial" pitchFamily="34" charset="-120"/>
              </a:rPr>
              <a:t>24,4%</a:t>
            </a:r>
            <a:endParaRPr lang="en-US" sz="4000" dirty="0"/>
          </a:p>
        </p:txBody>
      </p:sp>
      <p:sp>
        <p:nvSpPr>
          <p:cNvPr id="17" name="Text 15"/>
          <p:cNvSpPr txBox="1"/>
          <p:nvPr/>
        </p:nvSpPr>
        <p:spPr>
          <a:xfrm>
            <a:off x="9326880" y="2633472"/>
            <a:ext cx="2194560" cy="548640"/>
          </a:xfrm>
          <a:prstGeom prst="rect">
            <a:avLst/>
          </a:prstGeom>
          <a:noFill/>
          <a:ln/>
        </p:spPr>
        <p:txBody>
          <a:bodyPr wrap="square" lIns="0" tIns="0" rIns="0" bIns="0" rtlCol="0" anchor="t"/>
          <a:lstStyle/>
          <a:p>
            <a:pPr indent="0" marL="0">
              <a:buNone/>
            </a:pPr>
            <a:r>
              <a:rPr lang="en-US" sz="1300" dirty="0">
                <a:solidFill>
                  <a:srgbClr val="2A2D34"/>
                </a:solidFill>
                <a:latin typeface="Arial" pitchFamily="34" charset="0"/>
                <a:ea typeface="Arial" pitchFamily="34" charset="-122"/>
                <a:cs typeface="Arial" pitchFamily="34" charset="-120"/>
              </a:rPr>
              <a:t>sai số trung bình của mô hình đầu tiên (baseline 30,1%)</a:t>
            </a:r>
            <a:endParaRPr lang="en-US" sz="1300" dirty="0"/>
          </a:p>
        </p:txBody>
      </p:sp>
      <p:sp>
        <p:nvSpPr>
          <p:cNvPr id="18" name="Text 16"/>
          <p:cNvSpPr txBox="1"/>
          <p:nvPr/>
        </p:nvSpPr>
        <p:spPr>
          <a:xfrm>
            <a:off x="548640" y="3931920"/>
            <a:ext cx="7315200" cy="365760"/>
          </a:xfrm>
          <a:prstGeom prst="rect">
            <a:avLst/>
          </a:prstGeom>
          <a:noFill/>
          <a:ln/>
        </p:spPr>
        <p:txBody>
          <a:bodyPr wrap="square" lIns="0" tIns="0" rIns="0" bIns="0" rtlCol="0" anchor="ctr"/>
          <a:lstStyle/>
          <a:p>
            <a:pPr indent="0" marL="0">
              <a:buNone/>
            </a:pPr>
            <a:r>
              <a:rPr lang="en-US" sz="1800" b="1" dirty="0">
                <a:solidFill>
                  <a:srgbClr val="2A2D34"/>
                </a:solidFill>
                <a:latin typeface="Arial" pitchFamily="34" charset="0"/>
                <a:ea typeface="Arial" pitchFamily="34" charset="-122"/>
                <a:cs typeface="Arial" pitchFamily="34" charset="-120"/>
              </a:rPr>
              <a:t>Tiến độ theo quy trình (WORKFLOW)</a:t>
            </a:r>
            <a:endParaRPr lang="en-US" sz="1800" dirty="0"/>
          </a:p>
        </p:txBody>
      </p:sp>
      <p:sp>
        <p:nvSpPr>
          <p:cNvPr id="19" name="Shape 17"/>
          <p:cNvSpPr/>
          <p:nvPr/>
        </p:nvSpPr>
        <p:spPr>
          <a:xfrm>
            <a:off x="548640" y="4434840"/>
            <a:ext cx="2606040" cy="1600200"/>
          </a:xfrm>
          <a:prstGeom prst="roundRect">
            <a:avLst>
              <a:gd name="adj" fmla="val 4571"/>
            </a:avLst>
          </a:prstGeom>
          <a:solidFill>
            <a:srgbClr val="FFFFFF"/>
          </a:solidFill>
          <a:ln w="25400">
            <a:solidFill>
              <a:srgbClr val="A50E1F"/>
            </a:solidFill>
            <a:prstDash val="solid"/>
          </a:ln>
        </p:spPr>
      </p:sp>
      <p:sp>
        <p:nvSpPr>
          <p:cNvPr id="20" name="Text 18"/>
          <p:cNvSpPr txBox="1"/>
          <p:nvPr/>
        </p:nvSpPr>
        <p:spPr>
          <a:xfrm>
            <a:off x="777240" y="4572000"/>
            <a:ext cx="1371600" cy="320040"/>
          </a:xfrm>
          <a:prstGeom prst="rect">
            <a:avLst/>
          </a:prstGeom>
          <a:noFill/>
          <a:ln/>
        </p:spPr>
        <p:txBody>
          <a:bodyPr wrap="square" lIns="0" tIns="0" rIns="0" bIns="0" rtlCol="0" anchor="ctr"/>
          <a:lstStyle/>
          <a:p>
            <a:pPr indent="0" marL="0">
              <a:buNone/>
            </a:pPr>
            <a:r>
              <a:rPr lang="en-US" sz="1400" b="1" dirty="0">
                <a:solidFill>
                  <a:srgbClr val="A50E1F"/>
                </a:solidFill>
                <a:latin typeface="Arial" pitchFamily="34" charset="0"/>
                <a:ea typeface="Arial" pitchFamily="34" charset="-122"/>
                <a:cs typeface="Arial" pitchFamily="34" charset="-120"/>
              </a:rPr>
              <a:t>Giai đoạn 3</a:t>
            </a:r>
            <a:endParaRPr lang="en-US" sz="1400" dirty="0"/>
          </a:p>
        </p:txBody>
      </p:sp>
      <p:sp>
        <p:nvSpPr>
          <p:cNvPr id="21" name="Text 19"/>
          <p:cNvSpPr txBox="1"/>
          <p:nvPr/>
        </p:nvSpPr>
        <p:spPr>
          <a:xfrm>
            <a:off x="1828800" y="4590288"/>
            <a:ext cx="1097280" cy="274320"/>
          </a:xfrm>
          <a:prstGeom prst="rect">
            <a:avLst/>
          </a:prstGeom>
          <a:noFill/>
          <a:ln/>
        </p:spPr>
        <p:txBody>
          <a:bodyPr wrap="square" lIns="0" tIns="0" rIns="0" bIns="0" rtlCol="0" anchor="ctr"/>
          <a:lstStyle/>
          <a:p>
            <a:pPr algn="r" indent="0" marL="0">
              <a:buNone/>
            </a:pPr>
            <a:r>
              <a:rPr lang="en-US" sz="1100" b="1" dirty="0">
                <a:solidFill>
                  <a:srgbClr val="A50E1F"/>
                </a:solidFill>
                <a:latin typeface="Arial" pitchFamily="34" charset="0"/>
                <a:ea typeface="Arial" pitchFamily="34" charset="-122"/>
                <a:cs typeface="Arial" pitchFamily="34" charset="-120"/>
              </a:rPr>
              <a:t>Hoàn thành</a:t>
            </a:r>
            <a:endParaRPr lang="en-US" sz="1100" dirty="0"/>
          </a:p>
        </p:txBody>
      </p:sp>
      <p:sp>
        <p:nvSpPr>
          <p:cNvPr id="22" name="Text 20"/>
          <p:cNvSpPr txBox="1"/>
          <p:nvPr/>
        </p:nvSpPr>
        <p:spPr>
          <a:xfrm>
            <a:off x="777240" y="4983480"/>
            <a:ext cx="2194560" cy="914400"/>
          </a:xfrm>
          <a:prstGeom prst="rect">
            <a:avLst/>
          </a:prstGeom>
          <a:noFill/>
          <a:ln/>
        </p:spPr>
        <p:txBody>
          <a:bodyPr wrap="square" lIns="0" tIns="0" rIns="0" bIns="0" rtlCol="0" anchor="t"/>
          <a:lstStyle/>
          <a:p>
            <a:pPr indent="0" marL="0">
              <a:buNone/>
            </a:pPr>
            <a:r>
              <a:rPr lang="en-US" sz="1250" dirty="0">
                <a:solidFill>
                  <a:srgbClr val="2A2D34"/>
                </a:solidFill>
                <a:latin typeface="Arial" pitchFamily="34" charset="0"/>
                <a:ea typeface="Arial" pitchFamily="34" charset="-122"/>
                <a:cs typeface="Arial" pitchFamily="34" charset="-120"/>
              </a:rPr>
              <a:t>Chia dữ liệu theo nhóm vị trí, baseline, sổ thí nghiệm</a:t>
            </a:r>
            <a:endParaRPr lang="en-US" sz="1250" dirty="0"/>
          </a:p>
        </p:txBody>
      </p:sp>
      <p:sp>
        <p:nvSpPr>
          <p:cNvPr id="23" name="Shape 21"/>
          <p:cNvSpPr/>
          <p:nvPr/>
        </p:nvSpPr>
        <p:spPr>
          <a:xfrm>
            <a:off x="3383280" y="4434840"/>
            <a:ext cx="2606040" cy="1600200"/>
          </a:xfrm>
          <a:prstGeom prst="roundRect">
            <a:avLst>
              <a:gd name="adj" fmla="val 4571"/>
            </a:avLst>
          </a:prstGeom>
          <a:solidFill>
            <a:srgbClr val="FFFFFF"/>
          </a:solidFill>
          <a:ln w="25400">
            <a:solidFill>
              <a:srgbClr val="A50E1F"/>
            </a:solidFill>
            <a:prstDash val="solid"/>
          </a:ln>
        </p:spPr>
      </p:sp>
      <p:sp>
        <p:nvSpPr>
          <p:cNvPr id="24" name="Text 22"/>
          <p:cNvSpPr txBox="1"/>
          <p:nvPr/>
        </p:nvSpPr>
        <p:spPr>
          <a:xfrm>
            <a:off x="3611880" y="4572000"/>
            <a:ext cx="1371600" cy="320040"/>
          </a:xfrm>
          <a:prstGeom prst="rect">
            <a:avLst/>
          </a:prstGeom>
          <a:noFill/>
          <a:ln/>
        </p:spPr>
        <p:txBody>
          <a:bodyPr wrap="square" lIns="0" tIns="0" rIns="0" bIns="0" rtlCol="0" anchor="ctr"/>
          <a:lstStyle/>
          <a:p>
            <a:pPr indent="0" marL="0">
              <a:buNone/>
            </a:pPr>
            <a:r>
              <a:rPr lang="en-US" sz="1400" b="1" dirty="0">
                <a:solidFill>
                  <a:srgbClr val="A50E1F"/>
                </a:solidFill>
                <a:latin typeface="Arial" pitchFamily="34" charset="0"/>
                <a:ea typeface="Arial" pitchFamily="34" charset="-122"/>
                <a:cs typeface="Arial" pitchFamily="34" charset="-120"/>
              </a:rPr>
              <a:t>Giai đoạn 4</a:t>
            </a:r>
            <a:endParaRPr lang="en-US" sz="1400" dirty="0"/>
          </a:p>
        </p:txBody>
      </p:sp>
      <p:sp>
        <p:nvSpPr>
          <p:cNvPr id="25" name="Text 23"/>
          <p:cNvSpPr txBox="1"/>
          <p:nvPr/>
        </p:nvSpPr>
        <p:spPr>
          <a:xfrm>
            <a:off x="4663440" y="4590288"/>
            <a:ext cx="1097280" cy="274320"/>
          </a:xfrm>
          <a:prstGeom prst="rect">
            <a:avLst/>
          </a:prstGeom>
          <a:noFill/>
          <a:ln/>
        </p:spPr>
        <p:txBody>
          <a:bodyPr wrap="square" lIns="0" tIns="0" rIns="0" bIns="0" rtlCol="0" anchor="ctr"/>
          <a:lstStyle/>
          <a:p>
            <a:pPr algn="r" indent="0" marL="0">
              <a:buNone/>
            </a:pPr>
            <a:r>
              <a:rPr lang="en-US" sz="1100" b="1" dirty="0">
                <a:solidFill>
                  <a:srgbClr val="A50E1F"/>
                </a:solidFill>
                <a:latin typeface="Arial" pitchFamily="34" charset="0"/>
                <a:ea typeface="Arial" pitchFamily="34" charset="-122"/>
                <a:cs typeface="Arial" pitchFamily="34" charset="-120"/>
              </a:rPr>
              <a:t>Hoàn thành</a:t>
            </a:r>
            <a:endParaRPr lang="en-US" sz="1100" dirty="0"/>
          </a:p>
        </p:txBody>
      </p:sp>
      <p:sp>
        <p:nvSpPr>
          <p:cNvPr id="26" name="Text 24"/>
          <p:cNvSpPr txBox="1"/>
          <p:nvPr/>
        </p:nvSpPr>
        <p:spPr>
          <a:xfrm>
            <a:off x="3611880" y="4983480"/>
            <a:ext cx="2194560" cy="914400"/>
          </a:xfrm>
          <a:prstGeom prst="rect">
            <a:avLst/>
          </a:prstGeom>
          <a:noFill/>
          <a:ln/>
        </p:spPr>
        <p:txBody>
          <a:bodyPr wrap="square" lIns="0" tIns="0" rIns="0" bIns="0" rtlCol="0" anchor="t"/>
          <a:lstStyle/>
          <a:p>
            <a:pPr indent="0" marL="0">
              <a:buNone/>
            </a:pPr>
            <a:r>
              <a:rPr lang="en-US" sz="1250" dirty="0">
                <a:solidFill>
                  <a:srgbClr val="2A2D34"/>
                </a:solidFill>
                <a:latin typeface="Arial" pitchFamily="34" charset="0"/>
                <a:ea typeface="Arial" pitchFamily="34" charset="-122"/>
                <a:cs typeface="Arial" pitchFamily="34" charset="-120"/>
              </a:rPr>
              <a:t>EDA: 6 câu hỏi → 6 quyết định; tìm và sửa lỗi dữ liệu (v4)</a:t>
            </a:r>
            <a:endParaRPr lang="en-US" sz="1250" dirty="0"/>
          </a:p>
        </p:txBody>
      </p:sp>
      <p:sp>
        <p:nvSpPr>
          <p:cNvPr id="27" name="Shape 25"/>
          <p:cNvSpPr/>
          <p:nvPr/>
        </p:nvSpPr>
        <p:spPr>
          <a:xfrm>
            <a:off x="6217920" y="4434840"/>
            <a:ext cx="2606040" cy="1600200"/>
          </a:xfrm>
          <a:prstGeom prst="roundRect">
            <a:avLst>
              <a:gd name="adj" fmla="val 4571"/>
            </a:avLst>
          </a:prstGeom>
          <a:solidFill>
            <a:srgbClr val="FFFFFF"/>
          </a:solidFill>
          <a:ln w="25400">
            <a:solidFill>
              <a:srgbClr val="A50E1F"/>
            </a:solidFill>
            <a:prstDash val="solid"/>
          </a:ln>
        </p:spPr>
      </p:sp>
      <p:sp>
        <p:nvSpPr>
          <p:cNvPr id="28" name="Text 26"/>
          <p:cNvSpPr txBox="1"/>
          <p:nvPr/>
        </p:nvSpPr>
        <p:spPr>
          <a:xfrm>
            <a:off x="6446520" y="4572000"/>
            <a:ext cx="1371600" cy="320040"/>
          </a:xfrm>
          <a:prstGeom prst="rect">
            <a:avLst/>
          </a:prstGeom>
          <a:noFill/>
          <a:ln/>
        </p:spPr>
        <p:txBody>
          <a:bodyPr wrap="square" lIns="0" tIns="0" rIns="0" bIns="0" rtlCol="0" anchor="ctr"/>
          <a:lstStyle/>
          <a:p>
            <a:pPr indent="0" marL="0">
              <a:buNone/>
            </a:pPr>
            <a:r>
              <a:rPr lang="en-US" sz="1400" b="1" dirty="0">
                <a:solidFill>
                  <a:srgbClr val="A50E1F"/>
                </a:solidFill>
                <a:latin typeface="Arial" pitchFamily="34" charset="0"/>
                <a:ea typeface="Arial" pitchFamily="34" charset="-122"/>
                <a:cs typeface="Arial" pitchFamily="34" charset="-120"/>
              </a:rPr>
              <a:t>Giai đoạn 5</a:t>
            </a:r>
            <a:endParaRPr lang="en-US" sz="1400" dirty="0"/>
          </a:p>
        </p:txBody>
      </p:sp>
      <p:sp>
        <p:nvSpPr>
          <p:cNvPr id="29" name="Text 27"/>
          <p:cNvSpPr txBox="1"/>
          <p:nvPr/>
        </p:nvSpPr>
        <p:spPr>
          <a:xfrm>
            <a:off x="7498080" y="4590288"/>
            <a:ext cx="1097280" cy="274320"/>
          </a:xfrm>
          <a:prstGeom prst="rect">
            <a:avLst/>
          </a:prstGeom>
          <a:noFill/>
          <a:ln/>
        </p:spPr>
        <p:txBody>
          <a:bodyPr wrap="square" lIns="0" tIns="0" rIns="0" bIns="0" rtlCol="0" anchor="ctr"/>
          <a:lstStyle/>
          <a:p>
            <a:pPr algn="r" indent="0" marL="0">
              <a:buNone/>
            </a:pPr>
            <a:r>
              <a:rPr lang="en-US" sz="1100" b="1" dirty="0">
                <a:solidFill>
                  <a:srgbClr val="A50E1F"/>
                </a:solidFill>
                <a:latin typeface="Arial" pitchFamily="34" charset="0"/>
                <a:ea typeface="Arial" pitchFamily="34" charset="-122"/>
                <a:cs typeface="Arial" pitchFamily="34" charset="-120"/>
              </a:rPr>
              <a:t>Hoàn thành</a:t>
            </a:r>
            <a:endParaRPr lang="en-US" sz="1100" dirty="0"/>
          </a:p>
        </p:txBody>
      </p:sp>
      <p:sp>
        <p:nvSpPr>
          <p:cNvPr id="30" name="Text 28"/>
          <p:cNvSpPr txBox="1"/>
          <p:nvPr/>
        </p:nvSpPr>
        <p:spPr>
          <a:xfrm>
            <a:off x="6446520" y="4983480"/>
            <a:ext cx="2194560" cy="914400"/>
          </a:xfrm>
          <a:prstGeom prst="rect">
            <a:avLst/>
          </a:prstGeom>
          <a:noFill/>
          <a:ln/>
        </p:spPr>
        <p:txBody>
          <a:bodyPr wrap="square" lIns="0" tIns="0" rIns="0" bIns="0" rtlCol="0" anchor="t"/>
          <a:lstStyle/>
          <a:p>
            <a:pPr indent="0" marL="0">
              <a:buNone/>
            </a:pPr>
            <a:r>
              <a:rPr lang="en-US" sz="1250" dirty="0">
                <a:solidFill>
                  <a:srgbClr val="2A2D34"/>
                </a:solidFill>
                <a:latin typeface="Arial" pitchFamily="34" charset="0"/>
                <a:ea typeface="Arial" pitchFamily="34" charset="-122"/>
                <a:cs typeface="Arial" pitchFamily="34" charset="-120"/>
              </a:rPr>
              <a:t>38 feature, chống rò rỉ 3 lớp, hợp đồng feature đạt</a:t>
            </a:r>
            <a:endParaRPr lang="en-US" sz="1250" dirty="0"/>
          </a:p>
        </p:txBody>
      </p:sp>
      <p:sp>
        <p:nvSpPr>
          <p:cNvPr id="31" name="Shape 29"/>
          <p:cNvSpPr/>
          <p:nvPr/>
        </p:nvSpPr>
        <p:spPr>
          <a:xfrm>
            <a:off x="9052560" y="4434840"/>
            <a:ext cx="2606040" cy="1600200"/>
          </a:xfrm>
          <a:prstGeom prst="roundRect">
            <a:avLst>
              <a:gd name="adj" fmla="val 4571"/>
            </a:avLst>
          </a:prstGeom>
          <a:solidFill>
            <a:srgbClr val="FFFFFF"/>
          </a:solidFill>
          <a:ln w="12700">
            <a:solidFill>
              <a:srgbClr val="E3E4E8"/>
            </a:solidFill>
            <a:prstDash val="solid"/>
          </a:ln>
        </p:spPr>
      </p:sp>
      <p:sp>
        <p:nvSpPr>
          <p:cNvPr id="32" name="Text 30"/>
          <p:cNvSpPr txBox="1"/>
          <p:nvPr/>
        </p:nvSpPr>
        <p:spPr>
          <a:xfrm>
            <a:off x="9281160" y="4572000"/>
            <a:ext cx="1371600" cy="320040"/>
          </a:xfrm>
          <a:prstGeom prst="rect">
            <a:avLst/>
          </a:prstGeom>
          <a:noFill/>
          <a:ln/>
        </p:spPr>
        <p:txBody>
          <a:bodyPr wrap="square" lIns="0" tIns="0" rIns="0" bIns="0" rtlCol="0" anchor="ctr"/>
          <a:lstStyle/>
          <a:p>
            <a:pPr indent="0" marL="0">
              <a:buNone/>
            </a:pPr>
            <a:r>
              <a:rPr lang="en-US" sz="1400" b="1" dirty="0">
                <a:solidFill>
                  <a:srgbClr val="2A2D34"/>
                </a:solidFill>
                <a:latin typeface="Arial" pitchFamily="34" charset="0"/>
                <a:ea typeface="Arial" pitchFamily="34" charset="-122"/>
                <a:cs typeface="Arial" pitchFamily="34" charset="-120"/>
              </a:rPr>
              <a:t>Giai đoạn 6–7</a:t>
            </a:r>
            <a:endParaRPr lang="en-US" sz="1400" dirty="0"/>
          </a:p>
        </p:txBody>
      </p:sp>
      <p:sp>
        <p:nvSpPr>
          <p:cNvPr id="33" name="Text 31"/>
          <p:cNvSpPr txBox="1"/>
          <p:nvPr/>
        </p:nvSpPr>
        <p:spPr>
          <a:xfrm>
            <a:off x="10332720" y="4590288"/>
            <a:ext cx="1097280" cy="274320"/>
          </a:xfrm>
          <a:prstGeom prst="rect">
            <a:avLst/>
          </a:prstGeom>
          <a:noFill/>
          <a:ln/>
        </p:spPr>
        <p:txBody>
          <a:bodyPr wrap="square" lIns="0" tIns="0" rIns="0" bIns="0" rtlCol="0" anchor="ctr"/>
          <a:lstStyle/>
          <a:p>
            <a:pPr algn="r" indent="0" marL="0">
              <a:buNone/>
            </a:pPr>
            <a:r>
              <a:rPr lang="en-US" sz="1100" b="1" dirty="0">
                <a:solidFill>
                  <a:srgbClr val="2A2D34"/>
                </a:solidFill>
                <a:latin typeface="Arial" pitchFamily="34" charset="0"/>
                <a:ea typeface="Arial" pitchFamily="34" charset="-122"/>
                <a:cs typeface="Arial" pitchFamily="34" charset="-120"/>
              </a:rPr>
              <a:t>Đã bắt đầu</a:t>
            </a:r>
            <a:endParaRPr lang="en-US" sz="1100" dirty="0"/>
          </a:p>
        </p:txBody>
      </p:sp>
      <p:sp>
        <p:nvSpPr>
          <p:cNvPr id="34" name="Text 32"/>
          <p:cNvSpPr txBox="1"/>
          <p:nvPr/>
        </p:nvSpPr>
        <p:spPr>
          <a:xfrm>
            <a:off x="9281160" y="4983480"/>
            <a:ext cx="2194560" cy="914400"/>
          </a:xfrm>
          <a:prstGeom prst="rect">
            <a:avLst/>
          </a:prstGeom>
          <a:noFill/>
          <a:ln/>
        </p:spPr>
        <p:txBody>
          <a:bodyPr wrap="square" lIns="0" tIns="0" rIns="0" bIns="0" rtlCol="0" anchor="t"/>
          <a:lstStyle/>
          <a:p>
            <a:pPr indent="0" marL="0">
              <a:buNone/>
            </a:pPr>
            <a:r>
              <a:rPr lang="en-US" sz="1250" dirty="0">
                <a:solidFill>
                  <a:srgbClr val="2A2D34"/>
                </a:solidFill>
                <a:latin typeface="Arial" pitchFamily="34" charset="0"/>
                <a:ea typeface="Arial" pitchFamily="34" charset="-122"/>
                <a:cs typeface="Arial" pitchFamily="34" charset="-120"/>
              </a:rPr>
              <a:t>Mô hình đầu tiên, bảng ablation, phân tích lỗi (v5)</a:t>
            </a:r>
            <a:endParaRPr lang="en-US" sz="1250" dirty="0"/>
          </a:p>
        </p:txBody>
      </p:sp>
      <p:sp>
        <p:nvSpPr>
          <p:cNvPr id="35" name="Text 33"/>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36" name="Text 34"/>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11185855" y="0"/>
            <a:ext cx="1005840" cy="1005840"/>
          </a:xfrm>
          <a:prstGeom prst="rtTriangle">
            <a:avLst/>
          </a:prstGeom>
          <a:solidFill>
            <a:srgbClr val="A50E1F"/>
          </a:solidFill>
          <a:ln w="12700">
            <a:solidFill>
              <a:srgbClr val="A50E1F"/>
            </a:solidFill>
            <a:prstDash val="solid"/>
          </a:ln>
        </p:spPr>
      </p:sp>
      <p:sp>
        <p:nvSpPr>
          <p:cNvPr id="3" name="Shape 1"/>
          <p:cNvSpPr/>
          <p:nvPr/>
        </p:nvSpPr>
        <p:spPr>
          <a:xfrm flipH="1" flipV="1">
            <a:off x="11688775" y="0"/>
            <a:ext cx="502920" cy="1508760"/>
          </a:xfrm>
          <a:prstGeom prst="rtTriangle">
            <a:avLst/>
          </a:prstGeom>
          <a:solidFill>
            <a:srgbClr val="E8505B">
              <a:alpha val="80000"/>
            </a:srgbClr>
          </a:solidFill>
          <a:ln w="12700">
            <a:solidFill>
              <a:srgbClr val="E8505B"/>
            </a:solidFill>
            <a:prstDash val="solid"/>
          </a:ln>
        </p:spPr>
      </p:sp>
      <p:sp>
        <p:nvSpPr>
          <p:cNvPr id="4" name="Text 2"/>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GIAI ĐOẠN 3A · CHIA DỮ LIỆU</a:t>
            </a:r>
            <a:endParaRPr lang="en-US" sz="1200" dirty="0"/>
          </a:p>
        </p:txBody>
      </p:sp>
      <p:sp>
        <p:nvSpPr>
          <p:cNvPr id="5" name="Text 3"/>
          <p:cNvSpPr txBox="1"/>
          <p:nvPr/>
        </p:nvSpPr>
        <p:spPr>
          <a:xfrm>
            <a:off x="548640" y="658368"/>
            <a:ext cx="10241280" cy="685800"/>
          </a:xfrm>
          <a:prstGeom prst="rect">
            <a:avLst/>
          </a:prstGeom>
          <a:noFill/>
          <a:ln/>
        </p:spPr>
        <p:txBody>
          <a:bodyPr wrap="square" lIns="0" tIns="0" rIns="0" bIns="0" rtlCol="0" anchor="t"/>
          <a:lstStyle/>
          <a:p>
            <a:pPr indent="0" marL="0">
              <a:buNone/>
            </a:pPr>
            <a:r>
              <a:rPr lang="en-US" sz="3000" b="1" dirty="0">
                <a:solidFill>
                  <a:srgbClr val="2A2D34"/>
                </a:solidFill>
                <a:latin typeface="Arial" pitchFamily="34" charset="0"/>
                <a:ea typeface="Arial" pitchFamily="34" charset="-122"/>
                <a:cs typeface="Arial" pitchFamily="34" charset="-120"/>
              </a:rPr>
              <a:t>Tập test là những tòa nhà mô hình chưa từng thấy</a:t>
            </a:r>
            <a:endParaRPr lang="en-US" sz="3000" dirty="0"/>
          </a:p>
        </p:txBody>
      </p:sp>
      <p:sp>
        <p:nvSpPr>
          <p:cNvPr id="6" name="Shape 4"/>
          <p:cNvSpPr/>
          <p:nvPr/>
        </p:nvSpPr>
        <p:spPr>
          <a:xfrm>
            <a:off x="548640" y="1554480"/>
            <a:ext cx="5486400" cy="868680"/>
          </a:xfrm>
          <a:prstGeom prst="roundRect">
            <a:avLst>
              <a:gd name="adj" fmla="val 8421"/>
            </a:avLst>
          </a:prstGeom>
          <a:solidFill>
            <a:srgbClr val="F4F4F6"/>
          </a:solidFill>
          <a:ln w="12700">
            <a:solidFill>
              <a:srgbClr val="F4F4F6"/>
            </a:solidFill>
            <a:prstDash val="solid"/>
          </a:ln>
        </p:spPr>
      </p:sp>
      <p:sp>
        <p:nvSpPr>
          <p:cNvPr id="7" name="Shape 5"/>
          <p:cNvSpPr/>
          <p:nvPr/>
        </p:nvSpPr>
        <p:spPr>
          <a:xfrm>
            <a:off x="749808" y="1773936"/>
            <a:ext cx="438912" cy="438912"/>
          </a:xfrm>
          <a:prstGeom prst="ellipse">
            <a:avLst/>
          </a:prstGeom>
          <a:solidFill>
            <a:srgbClr val="A50E1F"/>
          </a:solidFill>
          <a:ln w="12700">
            <a:solidFill>
              <a:srgbClr val="A50E1F"/>
            </a:solidFill>
            <a:prstDash val="solid"/>
          </a:ln>
        </p:spPr>
      </p:sp>
      <p:sp>
        <p:nvSpPr>
          <p:cNvPr id="8" name="Text 6"/>
          <p:cNvSpPr txBox="1"/>
          <p:nvPr/>
        </p:nvSpPr>
        <p:spPr>
          <a:xfrm>
            <a:off x="749808" y="177393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txBox="1"/>
          <p:nvPr/>
        </p:nvSpPr>
        <p:spPr>
          <a:xfrm>
            <a:off x="1371600" y="1664208"/>
            <a:ext cx="4480560" cy="292608"/>
          </a:xfrm>
          <a:prstGeom prst="rect">
            <a:avLst/>
          </a:prstGeom>
          <a:noFill/>
          <a:ln/>
        </p:spPr>
        <p:txBody>
          <a:bodyPr wrap="square" lIns="0" tIns="0" rIns="0" bIns="0" rtlCol="0" anchor="ctr"/>
          <a:lstStyle/>
          <a:p>
            <a:pPr indent="0" marL="0">
              <a:buNone/>
            </a:pPr>
            <a:r>
              <a:rPr lang="en-US" sz="1400" b="1" dirty="0">
                <a:solidFill>
                  <a:srgbClr val="2A2D34"/>
                </a:solidFill>
                <a:latin typeface="Arial" pitchFamily="34" charset="0"/>
                <a:ea typeface="Arial" pitchFamily="34" charset="-122"/>
                <a:cs typeface="Arial" pitchFamily="34" charset="-120"/>
              </a:rPr>
              <a:t>Cụm tọa độ 200 m</a:t>
            </a:r>
            <a:endParaRPr lang="en-US" sz="1400" dirty="0"/>
          </a:p>
        </p:txBody>
      </p:sp>
      <p:sp>
        <p:nvSpPr>
          <p:cNvPr id="10" name="Text 8"/>
          <p:cNvSpPr txBox="1"/>
          <p:nvPr/>
        </p:nvSpPr>
        <p:spPr>
          <a:xfrm>
            <a:off x="1371600" y="1965960"/>
            <a:ext cx="4526280" cy="411480"/>
          </a:xfrm>
          <a:prstGeom prst="rect">
            <a:avLst/>
          </a:prstGeom>
          <a:noFill/>
          <a:ln/>
        </p:spPr>
        <p:txBody>
          <a:bodyPr wrap="square" lIns="0" tIns="0" rIns="0" bIns="0" rtlCol="0" anchor="t"/>
          <a:lstStyle/>
          <a:p>
            <a:pPr indent="0" marL="0">
              <a:buNone/>
            </a:pPr>
            <a:r>
              <a:rPr lang="en-US" sz="1200" dirty="0">
                <a:solidFill>
                  <a:srgbClr val="2A2D34"/>
                </a:solidFill>
                <a:latin typeface="Arial" pitchFamily="34" charset="0"/>
                <a:ea typeface="Arial" pitchFamily="34" charset="-122"/>
                <a:cs typeface="Arial" pitchFamily="34" charset="-120"/>
              </a:rPr>
              <a:t>Các tin cách nhau ≤ 200 m vào cùng nhóm (gom cụm DBSCAN).</a:t>
            </a:r>
            <a:endParaRPr lang="en-US" sz="1200" dirty="0"/>
          </a:p>
        </p:txBody>
      </p:sp>
      <p:sp>
        <p:nvSpPr>
          <p:cNvPr id="11" name="Shape 9"/>
          <p:cNvSpPr/>
          <p:nvPr/>
        </p:nvSpPr>
        <p:spPr>
          <a:xfrm>
            <a:off x="548640" y="2578608"/>
            <a:ext cx="5486400" cy="868680"/>
          </a:xfrm>
          <a:prstGeom prst="roundRect">
            <a:avLst>
              <a:gd name="adj" fmla="val 8421"/>
            </a:avLst>
          </a:prstGeom>
          <a:solidFill>
            <a:srgbClr val="F4F4F6"/>
          </a:solidFill>
          <a:ln w="12700">
            <a:solidFill>
              <a:srgbClr val="F4F4F6"/>
            </a:solidFill>
            <a:prstDash val="solid"/>
          </a:ln>
        </p:spPr>
      </p:sp>
      <p:sp>
        <p:nvSpPr>
          <p:cNvPr id="12" name="Shape 10"/>
          <p:cNvSpPr/>
          <p:nvPr/>
        </p:nvSpPr>
        <p:spPr>
          <a:xfrm>
            <a:off x="749808" y="2798064"/>
            <a:ext cx="438912" cy="438912"/>
          </a:xfrm>
          <a:prstGeom prst="ellipse">
            <a:avLst/>
          </a:prstGeom>
          <a:solidFill>
            <a:srgbClr val="2A2D34"/>
          </a:solidFill>
          <a:ln w="12700">
            <a:solidFill>
              <a:srgbClr val="2A2D34"/>
            </a:solidFill>
            <a:prstDash val="solid"/>
          </a:ln>
        </p:spPr>
      </p:sp>
      <p:sp>
        <p:nvSpPr>
          <p:cNvPr id="13" name="Text 11"/>
          <p:cNvSpPr txBox="1"/>
          <p:nvPr/>
        </p:nvSpPr>
        <p:spPr>
          <a:xfrm>
            <a:off x="749808" y="279806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371600" y="2688336"/>
            <a:ext cx="4480560" cy="292608"/>
          </a:xfrm>
          <a:prstGeom prst="rect">
            <a:avLst/>
          </a:prstGeom>
          <a:noFill/>
          <a:ln/>
        </p:spPr>
        <p:txBody>
          <a:bodyPr wrap="square" lIns="0" tIns="0" rIns="0" bIns="0" rtlCol="0" anchor="ctr"/>
          <a:lstStyle/>
          <a:p>
            <a:pPr indent="0" marL="0">
              <a:buNone/>
            </a:pPr>
            <a:r>
              <a:rPr lang="en-US" sz="1400" b="1" dirty="0">
                <a:solidFill>
                  <a:srgbClr val="2A2D34"/>
                </a:solidFill>
                <a:latin typeface="Arial" pitchFamily="34" charset="0"/>
                <a:ea typeface="Arial" pitchFamily="34" charset="-122"/>
                <a:cs typeface="Arial" pitchFamily="34" charset="-120"/>
              </a:rPr>
              <a:t>Cùng tên dự án</a:t>
            </a:r>
            <a:endParaRPr lang="en-US" sz="1400" dirty="0"/>
          </a:p>
        </p:txBody>
      </p:sp>
      <p:sp>
        <p:nvSpPr>
          <p:cNvPr id="15" name="Text 13"/>
          <p:cNvSpPr txBox="1"/>
          <p:nvPr/>
        </p:nvSpPr>
        <p:spPr>
          <a:xfrm>
            <a:off x="1371600" y="2990088"/>
            <a:ext cx="4526280" cy="411480"/>
          </a:xfrm>
          <a:prstGeom prst="rect">
            <a:avLst/>
          </a:prstGeom>
          <a:noFill/>
          <a:ln/>
        </p:spPr>
        <p:txBody>
          <a:bodyPr wrap="square" lIns="0" tIns="0" rIns="0" bIns="0" rtlCol="0" anchor="t"/>
          <a:lstStyle/>
          <a:p>
            <a:pPr indent="0" marL="0">
              <a:buNone/>
            </a:pPr>
            <a:r>
              <a:rPr lang="en-US" sz="1200" dirty="0">
                <a:solidFill>
                  <a:srgbClr val="2A2D34"/>
                </a:solidFill>
                <a:latin typeface="Arial" pitchFamily="34" charset="0"/>
                <a:ea typeface="Arial" pitchFamily="34" charset="-122"/>
                <a:cs typeface="Arial" pitchFamily="34" charset="-120"/>
              </a:rPr>
              <a:t>Cùng dự án trong cùng tỉnh → cùng nhóm, kể cả tin không có tọa độ.</a:t>
            </a:r>
            <a:endParaRPr lang="en-US" sz="1200" dirty="0"/>
          </a:p>
        </p:txBody>
      </p:sp>
      <p:sp>
        <p:nvSpPr>
          <p:cNvPr id="16" name="Shape 14"/>
          <p:cNvSpPr/>
          <p:nvPr/>
        </p:nvSpPr>
        <p:spPr>
          <a:xfrm>
            <a:off x="548640" y="3602736"/>
            <a:ext cx="5486400" cy="868680"/>
          </a:xfrm>
          <a:prstGeom prst="roundRect">
            <a:avLst>
              <a:gd name="adj" fmla="val 8421"/>
            </a:avLst>
          </a:prstGeom>
          <a:solidFill>
            <a:srgbClr val="F4F4F6"/>
          </a:solidFill>
          <a:ln w="12700">
            <a:solidFill>
              <a:srgbClr val="F4F4F6"/>
            </a:solidFill>
            <a:prstDash val="solid"/>
          </a:ln>
        </p:spPr>
      </p:sp>
      <p:sp>
        <p:nvSpPr>
          <p:cNvPr id="17" name="Shape 15"/>
          <p:cNvSpPr/>
          <p:nvPr/>
        </p:nvSpPr>
        <p:spPr>
          <a:xfrm>
            <a:off x="749808" y="3822192"/>
            <a:ext cx="438912" cy="438912"/>
          </a:xfrm>
          <a:prstGeom prst="ellipse">
            <a:avLst/>
          </a:prstGeom>
          <a:solidFill>
            <a:srgbClr val="E8505B"/>
          </a:solidFill>
          <a:ln w="12700">
            <a:solidFill>
              <a:srgbClr val="E8505B"/>
            </a:solidFill>
            <a:prstDash val="solid"/>
          </a:ln>
        </p:spPr>
      </p:sp>
      <p:sp>
        <p:nvSpPr>
          <p:cNvPr id="18" name="Text 16"/>
          <p:cNvSpPr txBox="1"/>
          <p:nvPr/>
        </p:nvSpPr>
        <p:spPr>
          <a:xfrm>
            <a:off x="749808" y="382219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txBox="1"/>
          <p:nvPr/>
        </p:nvSpPr>
        <p:spPr>
          <a:xfrm>
            <a:off x="1371600" y="3712464"/>
            <a:ext cx="4480560" cy="292608"/>
          </a:xfrm>
          <a:prstGeom prst="rect">
            <a:avLst/>
          </a:prstGeom>
          <a:noFill/>
          <a:ln/>
        </p:spPr>
        <p:txBody>
          <a:bodyPr wrap="square" lIns="0" tIns="0" rIns="0" bIns="0" rtlCol="0" anchor="ctr"/>
          <a:lstStyle/>
          <a:p>
            <a:pPr indent="0" marL="0">
              <a:buNone/>
            </a:pPr>
            <a:r>
              <a:rPr lang="en-US" sz="1400" b="1" dirty="0">
                <a:solidFill>
                  <a:srgbClr val="2A2D34"/>
                </a:solidFill>
                <a:latin typeface="Arial" pitchFamily="34" charset="0"/>
                <a:ea typeface="Arial" pitchFamily="34" charset="-122"/>
                <a:cs typeface="Arial" pitchFamily="34" charset="-120"/>
              </a:rPr>
              <a:t>Cùng nhóm trùng lặp</a:t>
            </a:r>
            <a:endParaRPr lang="en-US" sz="1400" dirty="0"/>
          </a:p>
        </p:txBody>
      </p:sp>
      <p:sp>
        <p:nvSpPr>
          <p:cNvPr id="20" name="Text 18"/>
          <p:cNvSpPr txBox="1"/>
          <p:nvPr/>
        </p:nvSpPr>
        <p:spPr>
          <a:xfrm>
            <a:off x="1371600" y="4014216"/>
            <a:ext cx="4526280" cy="411480"/>
          </a:xfrm>
          <a:prstGeom prst="rect">
            <a:avLst/>
          </a:prstGeom>
          <a:noFill/>
          <a:ln/>
        </p:spPr>
        <p:txBody>
          <a:bodyPr wrap="square" lIns="0" tIns="0" rIns="0" bIns="0" rtlCol="0" anchor="t"/>
          <a:lstStyle/>
          <a:p>
            <a:pPr indent="0" marL="0">
              <a:buNone/>
            </a:pPr>
            <a:r>
              <a:rPr lang="en-US" sz="1200" dirty="0">
                <a:solidFill>
                  <a:srgbClr val="2A2D34"/>
                </a:solidFill>
                <a:latin typeface="Arial" pitchFamily="34" charset="0"/>
                <a:ea typeface="Arial" pitchFamily="34" charset="-122"/>
                <a:cs typeface="Arial" pitchFamily="34" charset="-120"/>
              </a:rPr>
              <a:t>Tin có thể trùng nhau luôn nằm cùng một phía train hoặc test.</a:t>
            </a:r>
            <a:endParaRPr lang="en-US" sz="1200" dirty="0"/>
          </a:p>
        </p:txBody>
      </p:sp>
      <p:sp>
        <p:nvSpPr>
          <p:cNvPr id="21" name="Text 19"/>
          <p:cNvSpPr txBox="1"/>
          <p:nvPr/>
        </p:nvSpPr>
        <p:spPr>
          <a:xfrm>
            <a:off x="548640" y="4709160"/>
            <a:ext cx="1737360" cy="502920"/>
          </a:xfrm>
          <a:prstGeom prst="rect">
            <a:avLst/>
          </a:prstGeom>
          <a:noFill/>
          <a:ln/>
        </p:spPr>
        <p:txBody>
          <a:bodyPr wrap="square" lIns="0" tIns="0" rIns="0" bIns="0" rtlCol="0" anchor="ctr"/>
          <a:lstStyle/>
          <a:p>
            <a:pPr indent="0" marL="0">
              <a:buNone/>
            </a:pPr>
            <a:r>
              <a:rPr lang="en-US" sz="2800" b="1" dirty="0">
                <a:solidFill>
                  <a:srgbClr val="A50E1F"/>
                </a:solidFill>
                <a:latin typeface="Arial" pitchFamily="34" charset="0"/>
                <a:ea typeface="Arial" pitchFamily="34" charset="-122"/>
                <a:cs typeface="Arial" pitchFamily="34" charset="-120"/>
              </a:rPr>
              <a:t>2.728</a:t>
            </a:r>
            <a:endParaRPr lang="en-US" sz="2800" dirty="0"/>
          </a:p>
        </p:txBody>
      </p:sp>
      <p:sp>
        <p:nvSpPr>
          <p:cNvPr id="22" name="Text 20"/>
          <p:cNvSpPr txBox="1"/>
          <p:nvPr/>
        </p:nvSpPr>
        <p:spPr>
          <a:xfrm>
            <a:off x="548640" y="5212080"/>
            <a:ext cx="1737360" cy="274320"/>
          </a:xfrm>
          <a:prstGeom prst="rect">
            <a:avLst/>
          </a:prstGeom>
          <a:noFill/>
          <a:ln/>
        </p:spPr>
        <p:txBody>
          <a:bodyPr wrap="square" lIns="0" tIns="0" rIns="0" bIns="0" rtlCol="0" anchor="ctr"/>
          <a:lstStyle/>
          <a:p>
            <a:pPr indent="0" marL="0">
              <a:buNone/>
            </a:pPr>
            <a:r>
              <a:rPr lang="en-US" sz="1200" dirty="0">
                <a:solidFill>
                  <a:srgbClr val="2A2D34"/>
                </a:solidFill>
                <a:latin typeface="Arial" pitchFamily="34" charset="0"/>
                <a:ea typeface="Arial" pitchFamily="34" charset="-122"/>
                <a:cs typeface="Arial" pitchFamily="34" charset="-120"/>
              </a:rPr>
              <a:t>nhóm vị trí</a:t>
            </a:r>
            <a:endParaRPr lang="en-US" sz="1200" dirty="0"/>
          </a:p>
        </p:txBody>
      </p:sp>
      <p:sp>
        <p:nvSpPr>
          <p:cNvPr id="23" name="Text 21"/>
          <p:cNvSpPr txBox="1"/>
          <p:nvPr/>
        </p:nvSpPr>
        <p:spPr>
          <a:xfrm>
            <a:off x="2423160" y="4709160"/>
            <a:ext cx="1737360" cy="502920"/>
          </a:xfrm>
          <a:prstGeom prst="rect">
            <a:avLst/>
          </a:prstGeom>
          <a:noFill/>
          <a:ln/>
        </p:spPr>
        <p:txBody>
          <a:bodyPr wrap="square" lIns="0" tIns="0" rIns="0" bIns="0" rtlCol="0" anchor="ctr"/>
          <a:lstStyle/>
          <a:p>
            <a:pPr indent="0" marL="0">
              <a:buNone/>
            </a:pPr>
            <a:r>
              <a:rPr lang="en-US" sz="2800" b="1" dirty="0">
                <a:solidFill>
                  <a:srgbClr val="A50E1F"/>
                </a:solidFill>
                <a:latin typeface="Arial" pitchFamily="34" charset="0"/>
                <a:ea typeface="Arial" pitchFamily="34" charset="-122"/>
                <a:cs typeface="Arial" pitchFamily="34" charset="-120"/>
              </a:rPr>
              <a:t>2,2%</a:t>
            </a:r>
            <a:endParaRPr lang="en-US" sz="2800" dirty="0"/>
          </a:p>
        </p:txBody>
      </p:sp>
      <p:sp>
        <p:nvSpPr>
          <p:cNvPr id="24" name="Text 22"/>
          <p:cNvSpPr txBox="1"/>
          <p:nvPr/>
        </p:nvSpPr>
        <p:spPr>
          <a:xfrm>
            <a:off x="2423160" y="5212080"/>
            <a:ext cx="1737360" cy="274320"/>
          </a:xfrm>
          <a:prstGeom prst="rect">
            <a:avLst/>
          </a:prstGeom>
          <a:noFill/>
          <a:ln/>
        </p:spPr>
        <p:txBody>
          <a:bodyPr wrap="square" lIns="0" tIns="0" rIns="0" bIns="0" rtlCol="0" anchor="ctr"/>
          <a:lstStyle/>
          <a:p>
            <a:pPr indent="0" marL="0">
              <a:buNone/>
            </a:pPr>
            <a:r>
              <a:rPr lang="en-US" sz="1200" dirty="0">
                <a:solidFill>
                  <a:srgbClr val="2A2D34"/>
                </a:solidFill>
                <a:latin typeface="Arial" pitchFamily="34" charset="0"/>
                <a:ea typeface="Arial" pitchFamily="34" charset="-122"/>
                <a:cs typeface="Arial" pitchFamily="34" charset="-120"/>
              </a:rPr>
              <a:t>nhóm lớn nhất</a:t>
            </a:r>
            <a:endParaRPr lang="en-US" sz="1200" dirty="0"/>
          </a:p>
        </p:txBody>
      </p:sp>
      <p:sp>
        <p:nvSpPr>
          <p:cNvPr id="25" name="Text 23"/>
          <p:cNvSpPr txBox="1"/>
          <p:nvPr/>
        </p:nvSpPr>
        <p:spPr>
          <a:xfrm>
            <a:off x="4297680" y="4709160"/>
            <a:ext cx="1737360" cy="502920"/>
          </a:xfrm>
          <a:prstGeom prst="rect">
            <a:avLst/>
          </a:prstGeom>
          <a:noFill/>
          <a:ln/>
        </p:spPr>
        <p:txBody>
          <a:bodyPr wrap="square" lIns="0" tIns="0" rIns="0" bIns="0" rtlCol="0" anchor="ctr"/>
          <a:lstStyle/>
          <a:p>
            <a:pPr indent="0" marL="0">
              <a:buNone/>
            </a:pPr>
            <a:r>
              <a:rPr lang="en-US" sz="2800" b="1" dirty="0">
                <a:solidFill>
                  <a:srgbClr val="A50E1F"/>
                </a:solidFill>
                <a:latin typeface="Arial" pitchFamily="34" charset="0"/>
                <a:ea typeface="Arial" pitchFamily="34" charset="-122"/>
                <a:cs typeface="Arial" pitchFamily="34" charset="-120"/>
              </a:rPr>
              <a:t>2.276</a:t>
            </a:r>
            <a:endParaRPr lang="en-US" sz="2800" dirty="0"/>
          </a:p>
        </p:txBody>
      </p:sp>
      <p:sp>
        <p:nvSpPr>
          <p:cNvPr id="26" name="Text 24"/>
          <p:cNvSpPr txBox="1"/>
          <p:nvPr/>
        </p:nvSpPr>
        <p:spPr>
          <a:xfrm>
            <a:off x="4297680" y="5212080"/>
            <a:ext cx="1737360" cy="274320"/>
          </a:xfrm>
          <a:prstGeom prst="rect">
            <a:avLst/>
          </a:prstGeom>
          <a:noFill/>
          <a:ln/>
        </p:spPr>
        <p:txBody>
          <a:bodyPr wrap="square" lIns="0" tIns="0" rIns="0" bIns="0" rtlCol="0" anchor="ctr"/>
          <a:lstStyle/>
          <a:p>
            <a:pPr indent="0" marL="0">
              <a:buNone/>
            </a:pPr>
            <a:r>
              <a:rPr lang="en-US" sz="1200" dirty="0">
                <a:solidFill>
                  <a:srgbClr val="2A2D34"/>
                </a:solidFill>
                <a:latin typeface="Arial" pitchFamily="34" charset="0"/>
                <a:ea typeface="Arial" pitchFamily="34" charset="-122"/>
                <a:cs typeface="Arial" pitchFamily="34" charset="-120"/>
              </a:rPr>
              <a:t>dòng test (14,4%)</a:t>
            </a:r>
            <a:endParaRPr lang="en-US" sz="1200" dirty="0"/>
          </a:p>
        </p:txBody>
      </p:sp>
      <p:sp>
        <p:nvSpPr>
          <p:cNvPr id="27" name="Text 25"/>
          <p:cNvSpPr txBox="1"/>
          <p:nvPr/>
        </p:nvSpPr>
        <p:spPr>
          <a:xfrm>
            <a:off x="548640" y="5669280"/>
            <a:ext cx="5486400" cy="54864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Lỗi bắt được khi viết: ô trống "không có dự án" bị coi là một tên dự án → một nhóm chiếm 38% dữ liệu. Kiểm tra "nhóm ≤ 3%" đã dừng chương trình.</a:t>
            </a:r>
            <a:endParaRPr lang="en-US" sz="1200" dirty="0"/>
          </a:p>
        </p:txBody>
      </p:sp>
      <p:graphicFrame>
        <p:nvGraphicFramePr>
          <p:cNvPr id="28" name="Chart 0" descr=""/>
          <p:cNvGraphicFramePr/>
          <p:nvPr/>
        </p:nvGraphicFramePr>
        <p:xfrm>
          <a:off x="6400800" y="1463040"/>
          <a:ext cx="5257800" cy="457200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30" name="Text 27"/>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11185855" y="0"/>
            <a:ext cx="1005840" cy="1005840"/>
          </a:xfrm>
          <a:prstGeom prst="rtTriangle">
            <a:avLst/>
          </a:prstGeom>
          <a:solidFill>
            <a:srgbClr val="A50E1F"/>
          </a:solidFill>
          <a:ln w="12700">
            <a:solidFill>
              <a:srgbClr val="A50E1F"/>
            </a:solidFill>
            <a:prstDash val="solid"/>
          </a:ln>
        </p:spPr>
      </p:sp>
      <p:sp>
        <p:nvSpPr>
          <p:cNvPr id="3" name="Shape 1"/>
          <p:cNvSpPr/>
          <p:nvPr/>
        </p:nvSpPr>
        <p:spPr>
          <a:xfrm flipH="1" flipV="1">
            <a:off x="11688775" y="0"/>
            <a:ext cx="502920" cy="1508760"/>
          </a:xfrm>
          <a:prstGeom prst="rtTriangle">
            <a:avLst/>
          </a:prstGeom>
          <a:solidFill>
            <a:srgbClr val="E8505B">
              <a:alpha val="80000"/>
            </a:srgbClr>
          </a:solidFill>
          <a:ln w="12700">
            <a:solidFill>
              <a:srgbClr val="E8505B"/>
            </a:solidFill>
            <a:prstDash val="solid"/>
          </a:ln>
        </p:spPr>
      </p:sp>
      <p:sp>
        <p:nvSpPr>
          <p:cNvPr id="4" name="Text 2"/>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GIAI ĐOẠN 3B · BASELINE</a:t>
            </a:r>
            <a:endParaRPr lang="en-US" sz="1200" dirty="0"/>
          </a:p>
        </p:txBody>
      </p:sp>
      <p:sp>
        <p:nvSpPr>
          <p:cNvPr id="5" name="Text 3"/>
          <p:cNvSpPr txBox="1"/>
          <p:nvPr/>
        </p:nvSpPr>
        <p:spPr>
          <a:xfrm>
            <a:off x="548640" y="658368"/>
            <a:ext cx="10241280" cy="685800"/>
          </a:xfrm>
          <a:prstGeom prst="rect">
            <a:avLst/>
          </a:prstGeom>
          <a:noFill/>
          <a:ln/>
        </p:spPr>
        <p:txBody>
          <a:bodyPr wrap="square" lIns="0" tIns="0" rIns="0" bIns="0" rtlCol="0" anchor="t"/>
          <a:lstStyle/>
          <a:p>
            <a:pPr indent="0" marL="0">
              <a:buNone/>
            </a:pPr>
            <a:r>
              <a:rPr lang="en-US" sz="3000" b="1" dirty="0">
                <a:solidFill>
                  <a:srgbClr val="2A2D34"/>
                </a:solidFill>
                <a:latin typeface="Arial" pitchFamily="34" charset="0"/>
                <a:ea typeface="Arial" pitchFamily="34" charset="-122"/>
                <a:cs typeface="Arial" pitchFamily="34" charset="-120"/>
              </a:rPr>
              <a:t>Mốc sàn: đoán theo giá thường của khu vực</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949440" cy="914400"/>
        </p:xfrm>
        <a:graphic>
          <a:graphicData uri="http://schemas.openxmlformats.org/drawingml/2006/table">
            <a:tbl>
              <a:tblPr/>
              <a:tblGrid>
                <a:gridCol w="3383280"/>
                <a:gridCol w="1280160"/>
                <a:gridCol w="1371600"/>
                <a:gridCol w="914400"/>
              </a:tblGrid>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Baseline</a:t>
                      </a:r>
                      <a:endParaRPr lang="en-US" sz="1300" dirty="0">
                        <a:latin typeface="Arial" charset="0"/>
                        <a:ea typeface="Arial" charset="0"/>
                        <a:cs typeface="Arial" charset="0"/>
                      </a:endParaRPr>
                    </a:p>
                  </a:txBody>
                  <a:tcPr marL="109728"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2A2D34"/>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MAPE</a:t>
                      </a:r>
                      <a:endParaRPr lang="en-US" sz="1300" dirty="0">
                        <a:latin typeface="Arial" charset="0"/>
                        <a:ea typeface="Arial" charset="0"/>
                        <a:cs typeface="Arial" charset="0"/>
                      </a:endParaRPr>
                    </a:p>
                  </a:txBody>
                  <a:tcPr marL="109728"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2A2D34"/>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MdAPE</a:t>
                      </a:r>
                      <a:endParaRPr lang="en-US" sz="1300" dirty="0">
                        <a:latin typeface="Arial" charset="0"/>
                        <a:ea typeface="Arial" charset="0"/>
                        <a:cs typeface="Arial" charset="0"/>
                      </a:endParaRPr>
                    </a:p>
                  </a:txBody>
                  <a:tcPr marL="109728"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2A2D34"/>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R²</a:t>
                      </a:r>
                      <a:endParaRPr lang="en-US" sz="1300" dirty="0">
                        <a:latin typeface="Arial" charset="0"/>
                        <a:ea typeface="Arial" charset="0"/>
                        <a:cs typeface="Arial" charset="0"/>
                      </a:endParaRPr>
                    </a:p>
                  </a:txBody>
                  <a:tcPr marL="109728"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2A2D34"/>
                    </a:solidFill>
                  </a:tcPr>
                </a:tc>
              </a:tr>
              <a:tr h="548640">
                <a:tc>
                  <a:txBody>
                    <a:bodyPr/>
                    <a:lstStyle/>
                    <a:p>
                      <a:pPr indent="0" marL="0">
                        <a:buNone/>
                      </a:pPr>
                      <a:r>
                        <a:rPr lang="en-US" sz="1300" dirty="0">
                          <a:solidFill>
                            <a:srgbClr val="2A2D34"/>
                          </a:solidFill>
                          <a:latin typeface="Arial" pitchFamily="34" charset="0"/>
                          <a:ea typeface="Arial" pitchFamily="34" charset="-122"/>
                          <a:cs typeface="Arial" pitchFamily="34" charset="-120"/>
                        </a:rPr>
                        <a:t>B0 · Giá thường phường → quận → tỉnh</a:t>
                      </a:r>
                      <a:endParaRPr lang="en-US" sz="1300" dirty="0">
                        <a:latin typeface="Arial" charset="0"/>
                        <a:ea typeface="Arial" charset="0"/>
                        <a:cs typeface="Arial" charset="0"/>
                      </a:endParaRPr>
                    </a:p>
                  </a:txBody>
                  <a:tcPr marL="109728"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algn="ctr" indent="0" marL="0">
                        <a:buNone/>
                      </a:pPr>
                      <a:r>
                        <a:rPr lang="en-US" sz="1300" b="1" dirty="0">
                          <a:solidFill>
                            <a:srgbClr val="2A2D34"/>
                          </a:solidFill>
                          <a:latin typeface="Arial" pitchFamily="34" charset="0"/>
                          <a:ea typeface="Arial" pitchFamily="34" charset="-122"/>
                          <a:cs typeface="Arial" pitchFamily="34" charset="-120"/>
                        </a:rPr>
                        <a:t>31,3% ± 3,3</a:t>
                      </a:r>
                      <a:endParaRPr lang="en-US" sz="1300" dirty="0">
                        <a:latin typeface="Arial" charset="0"/>
                        <a:ea typeface="Arial" charset="0"/>
                        <a:cs typeface="Arial" charset="0"/>
                      </a:endParaRPr>
                    </a:p>
                  </a:txBody>
                  <a:tcPr marL="109728"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algn="ctr" indent="0" marL="0">
                        <a:buNone/>
                      </a:pPr>
                      <a:r>
                        <a:rPr lang="en-US" sz="1300" dirty="0">
                          <a:solidFill>
                            <a:srgbClr val="2A2D34"/>
                          </a:solidFill>
                          <a:latin typeface="Arial" pitchFamily="34" charset="0"/>
                          <a:ea typeface="Arial" pitchFamily="34" charset="-122"/>
                          <a:cs typeface="Arial" pitchFamily="34" charset="-120"/>
                        </a:rPr>
                        <a:t>22,1%</a:t>
                      </a:r>
                      <a:endParaRPr lang="en-US" sz="1300" dirty="0">
                        <a:latin typeface="Arial" charset="0"/>
                        <a:ea typeface="Arial" charset="0"/>
                        <a:cs typeface="Arial" charset="0"/>
                      </a:endParaRPr>
                    </a:p>
                  </a:txBody>
                  <a:tcPr marL="109728"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algn="ctr" indent="0" marL="0">
                        <a:buNone/>
                      </a:pPr>
                      <a:r>
                        <a:rPr lang="en-US" sz="1300" dirty="0">
                          <a:solidFill>
                            <a:srgbClr val="2A2D34"/>
                          </a:solidFill>
                          <a:latin typeface="Arial" pitchFamily="34" charset="0"/>
                          <a:ea typeface="Arial" pitchFamily="34" charset="-122"/>
                          <a:cs typeface="Arial" pitchFamily="34" charset="-120"/>
                        </a:rPr>
                        <a:t>0,22</a:t>
                      </a:r>
                      <a:endParaRPr lang="en-US" sz="1300" dirty="0">
                        <a:latin typeface="Arial" charset="0"/>
                        <a:ea typeface="Arial" charset="0"/>
                        <a:cs typeface="Arial" charset="0"/>
                      </a:endParaRPr>
                    </a:p>
                  </a:txBody>
                  <a:tcPr marL="109728"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r>
              <a:tr h="548640">
                <a:tc>
                  <a:txBody>
                    <a:bodyPr/>
                    <a:lstStyle/>
                    <a:p>
                      <a:pPr indent="0" marL="0">
                        <a:buNone/>
                      </a:pPr>
                      <a:r>
                        <a:rPr lang="en-US" sz="1300" dirty="0">
                          <a:solidFill>
                            <a:srgbClr val="2A2D34"/>
                          </a:solidFill>
                          <a:latin typeface="Arial" pitchFamily="34" charset="0"/>
                          <a:ea typeface="Arial" pitchFamily="34" charset="-122"/>
                          <a:cs typeface="Arial" pitchFamily="34" charset="-120"/>
                        </a:rPr>
                        <a:t>B1 · Giá của 10 căn gần nhất (≤ 2 km)</a:t>
                      </a:r>
                      <a:endParaRPr lang="en-US" sz="1300" dirty="0">
                        <a:latin typeface="Arial" charset="0"/>
                        <a:ea typeface="Arial" charset="0"/>
                        <a:cs typeface="Arial" charset="0"/>
                      </a:endParaRPr>
                    </a:p>
                  </a:txBody>
                  <a:tcPr marL="109728"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algn="ctr" indent="0" marL="0">
                        <a:buNone/>
                      </a:pPr>
                      <a:r>
                        <a:rPr lang="en-US" sz="1300" b="1" dirty="0">
                          <a:solidFill>
                            <a:srgbClr val="2A2D34"/>
                          </a:solidFill>
                          <a:latin typeface="Arial" pitchFamily="34" charset="0"/>
                          <a:ea typeface="Arial" pitchFamily="34" charset="-122"/>
                          <a:cs typeface="Arial" pitchFamily="34" charset="-120"/>
                        </a:rPr>
                        <a:t>30,1% ± 1,9</a:t>
                      </a:r>
                      <a:endParaRPr lang="en-US" sz="1300" dirty="0">
                        <a:latin typeface="Arial" charset="0"/>
                        <a:ea typeface="Arial" charset="0"/>
                        <a:cs typeface="Arial" charset="0"/>
                      </a:endParaRPr>
                    </a:p>
                  </a:txBody>
                  <a:tcPr marL="109728"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algn="ctr" indent="0" marL="0">
                        <a:buNone/>
                      </a:pPr>
                      <a:r>
                        <a:rPr lang="en-US" sz="1300" dirty="0">
                          <a:solidFill>
                            <a:srgbClr val="2A2D34"/>
                          </a:solidFill>
                          <a:latin typeface="Arial" pitchFamily="34" charset="0"/>
                          <a:ea typeface="Arial" pitchFamily="34" charset="-122"/>
                          <a:cs typeface="Arial" pitchFamily="34" charset="-120"/>
                        </a:rPr>
                        <a:t>21,3%</a:t>
                      </a:r>
                      <a:endParaRPr lang="en-US" sz="1300" dirty="0">
                        <a:latin typeface="Arial" charset="0"/>
                        <a:ea typeface="Arial" charset="0"/>
                        <a:cs typeface="Arial" charset="0"/>
                      </a:endParaRPr>
                    </a:p>
                  </a:txBody>
                  <a:tcPr marL="109728"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algn="ctr" indent="0" marL="0">
                        <a:buNone/>
                      </a:pPr>
                      <a:r>
                        <a:rPr lang="en-US" sz="1300" dirty="0">
                          <a:solidFill>
                            <a:srgbClr val="2A2D34"/>
                          </a:solidFill>
                          <a:latin typeface="Arial" pitchFamily="34" charset="0"/>
                          <a:ea typeface="Arial" pitchFamily="34" charset="-122"/>
                          <a:cs typeface="Arial" pitchFamily="34" charset="-120"/>
                        </a:rPr>
                        <a:t>0,37</a:t>
                      </a:r>
                      <a:endParaRPr lang="en-US" sz="1300" dirty="0">
                        <a:latin typeface="Arial" charset="0"/>
                        <a:ea typeface="Arial" charset="0"/>
                        <a:cs typeface="Arial" charset="0"/>
                      </a:endParaRPr>
                    </a:p>
                  </a:txBody>
                  <a:tcPr marL="109728"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r>
            </a:tbl>
          </a:graphicData>
        </a:graphic>
      </p:graphicFrame>
      <p:sp>
        <p:nvSpPr>
          <p:cNvPr id="7" name="Text 4"/>
          <p:cNvSpPr txBox="1"/>
          <p:nvPr/>
        </p:nvSpPr>
        <p:spPr>
          <a:xfrm>
            <a:off x="548640" y="3520440"/>
            <a:ext cx="6949440" cy="274320"/>
          </a:xfrm>
          <a:prstGeom prst="rect">
            <a:avLst/>
          </a:prstGeom>
          <a:noFill/>
          <a:ln/>
        </p:spPr>
        <p:txBody>
          <a:bodyPr wrap="square" lIns="0" tIns="0" rIns="0" bIns="0" rtlCol="0" anchor="ctr"/>
          <a:lstStyle/>
          <a:p>
            <a:pPr indent="0" marL="0">
              <a:buNone/>
            </a:pPr>
            <a:r>
              <a:rPr lang="en-US" sz="1400" b="1" dirty="0">
                <a:solidFill>
                  <a:srgbClr val="A50E1F"/>
                </a:solidFill>
                <a:latin typeface="Arial" pitchFamily="34" charset="0"/>
                <a:ea typeface="Arial" pitchFamily="34" charset="-122"/>
                <a:cs typeface="Arial" pitchFamily="34" charset="-120"/>
              </a:rPr>
              <a:t>Vì sao B1 không hơn B0 nhiều</a:t>
            </a:r>
            <a:endParaRPr lang="en-US" sz="1400" dirty="0"/>
          </a:p>
        </p:txBody>
      </p:sp>
      <p:sp>
        <p:nvSpPr>
          <p:cNvPr id="8" name="Text 5"/>
          <p:cNvSpPr txBox="1"/>
          <p:nvPr/>
        </p:nvSpPr>
        <p:spPr>
          <a:xfrm>
            <a:off x="548640" y="3813048"/>
            <a:ext cx="6949440" cy="548640"/>
          </a:xfrm>
          <a:prstGeom prst="rect">
            <a:avLst/>
          </a:prstGeom>
          <a:noFill/>
          <a:ln/>
        </p:spPr>
        <p:txBody>
          <a:bodyPr wrap="square" lIns="0" tIns="0" rIns="0" bIns="0" rtlCol="0" anchor="t"/>
          <a:lstStyle/>
          <a:p>
            <a:pPr indent="0" marL="0">
              <a:buNone/>
            </a:pPr>
            <a:r>
              <a:rPr lang="en-US" sz="1250" dirty="0">
                <a:solidFill>
                  <a:srgbClr val="2A2D34"/>
                </a:solidFill>
                <a:latin typeface="Arial" pitchFamily="34" charset="0"/>
                <a:ea typeface="Arial" pitchFamily="34" charset="-122"/>
                <a:cs typeface="Arial" pitchFamily="34" charset="-120"/>
              </a:rPr>
              <a:t>Hàng xóm gần nhất (cùng tòa) đã bị chia sang phía khác — xác nhận cách chia đang chặn rò rỉ đúng thiết kế.</a:t>
            </a:r>
            <a:endParaRPr lang="en-US" sz="1250" dirty="0"/>
          </a:p>
        </p:txBody>
      </p:sp>
      <p:sp>
        <p:nvSpPr>
          <p:cNvPr id="9" name="Text 6"/>
          <p:cNvSpPr txBox="1"/>
          <p:nvPr/>
        </p:nvSpPr>
        <p:spPr>
          <a:xfrm>
            <a:off x="548640" y="4434840"/>
            <a:ext cx="6949440" cy="274320"/>
          </a:xfrm>
          <a:prstGeom prst="rect">
            <a:avLst/>
          </a:prstGeom>
          <a:noFill/>
          <a:ln/>
        </p:spPr>
        <p:txBody>
          <a:bodyPr wrap="square" lIns="0" tIns="0" rIns="0" bIns="0" rtlCol="0" anchor="ctr"/>
          <a:lstStyle/>
          <a:p>
            <a:pPr indent="0" marL="0">
              <a:buNone/>
            </a:pPr>
            <a:r>
              <a:rPr lang="en-US" sz="1400" b="1" dirty="0">
                <a:solidFill>
                  <a:srgbClr val="A50E1F"/>
                </a:solidFill>
                <a:latin typeface="Arial" pitchFamily="34" charset="0"/>
                <a:ea typeface="Arial" pitchFamily="34" charset="-122"/>
                <a:cs typeface="Arial" pitchFamily="34" charset="-120"/>
              </a:rPr>
              <a:t>Cách đo</a:t>
            </a:r>
            <a:endParaRPr lang="en-US" sz="1400" dirty="0"/>
          </a:p>
        </p:txBody>
      </p:sp>
      <p:sp>
        <p:nvSpPr>
          <p:cNvPr id="10" name="Text 7"/>
          <p:cNvSpPr txBox="1"/>
          <p:nvPr/>
        </p:nvSpPr>
        <p:spPr>
          <a:xfrm>
            <a:off x="548640" y="4727448"/>
            <a:ext cx="6949440" cy="548640"/>
          </a:xfrm>
          <a:prstGeom prst="rect">
            <a:avLst/>
          </a:prstGeom>
          <a:noFill/>
          <a:ln/>
        </p:spPr>
        <p:txBody>
          <a:bodyPr wrap="square" lIns="0" tIns="0" rIns="0" bIns="0" rtlCol="0" anchor="t"/>
          <a:lstStyle/>
          <a:p>
            <a:pPr indent="0" marL="0">
              <a:buNone/>
            </a:pPr>
            <a:r>
              <a:rPr lang="en-US" sz="1250" dirty="0">
                <a:solidFill>
                  <a:srgbClr val="2A2D34"/>
                </a:solidFill>
                <a:latin typeface="Arial" pitchFamily="34" charset="0"/>
                <a:ea typeface="Arial" pitchFamily="34" charset="-122"/>
                <a:cs typeface="Arial" pitchFamily="34" charset="-120"/>
              </a:rPr>
              <a:t>Target log(giá/m²); báo cáo MAPE, MdAPE, MAE, R² trên 5 fold, kèm độ lệch giữa các fold; ghi mọi lần chạy vào experiments/log.csv.</a:t>
            </a:r>
            <a:endParaRPr lang="en-US" sz="1250" dirty="0"/>
          </a:p>
        </p:txBody>
      </p:sp>
      <p:sp>
        <p:nvSpPr>
          <p:cNvPr id="11" name="Text 8"/>
          <p:cNvSpPr txBox="1"/>
          <p:nvPr/>
        </p:nvSpPr>
        <p:spPr>
          <a:xfrm>
            <a:off x="548640" y="5349240"/>
            <a:ext cx="6949440" cy="274320"/>
          </a:xfrm>
          <a:prstGeom prst="rect">
            <a:avLst/>
          </a:prstGeom>
          <a:noFill/>
          <a:ln/>
        </p:spPr>
        <p:txBody>
          <a:bodyPr wrap="square" lIns="0" tIns="0" rIns="0" bIns="0" rtlCol="0" anchor="ctr"/>
          <a:lstStyle/>
          <a:p>
            <a:pPr indent="0" marL="0">
              <a:buNone/>
            </a:pPr>
            <a:r>
              <a:rPr lang="en-US" sz="1400" b="1" dirty="0">
                <a:solidFill>
                  <a:srgbClr val="A50E1F"/>
                </a:solidFill>
                <a:latin typeface="Arial" pitchFamily="34" charset="0"/>
                <a:ea typeface="Arial" pitchFamily="34" charset="-122"/>
                <a:cs typeface="Arial" pitchFamily="34" charset="-120"/>
              </a:rPr>
              <a:t>Mục tiêu</a:t>
            </a:r>
            <a:endParaRPr lang="en-US" sz="1400" dirty="0"/>
          </a:p>
        </p:txBody>
      </p:sp>
      <p:sp>
        <p:nvSpPr>
          <p:cNvPr id="12" name="Text 9"/>
          <p:cNvSpPr txBox="1"/>
          <p:nvPr/>
        </p:nvSpPr>
        <p:spPr>
          <a:xfrm>
            <a:off x="548640" y="5641848"/>
            <a:ext cx="6949440" cy="548640"/>
          </a:xfrm>
          <a:prstGeom prst="rect">
            <a:avLst/>
          </a:prstGeom>
          <a:noFill/>
          <a:ln/>
        </p:spPr>
        <p:txBody>
          <a:bodyPr wrap="square" lIns="0" tIns="0" rIns="0" bIns="0" rtlCol="0" anchor="t"/>
          <a:lstStyle/>
          <a:p>
            <a:pPr indent="0" marL="0">
              <a:buNone/>
            </a:pPr>
            <a:r>
              <a:rPr lang="en-US" sz="1250" dirty="0">
                <a:solidFill>
                  <a:srgbClr val="2A2D34"/>
                </a:solidFill>
                <a:latin typeface="Arial" pitchFamily="34" charset="0"/>
                <a:ea typeface="Arial" pitchFamily="34" charset="-122"/>
                <a:cs typeface="Arial" pitchFamily="34" charset="-120"/>
              </a:rPr>
              <a:t>Mô hình phải thắng rõ ~30% MAPE và ~21% MdAPE thì mới có giá trị.</a:t>
            </a:r>
            <a:endParaRPr lang="en-US" sz="1250" dirty="0"/>
          </a:p>
        </p:txBody>
      </p:sp>
      <p:sp>
        <p:nvSpPr>
          <p:cNvPr id="13" name="Shape 10"/>
          <p:cNvSpPr/>
          <p:nvPr/>
        </p:nvSpPr>
        <p:spPr>
          <a:xfrm>
            <a:off x="7863840" y="1554480"/>
            <a:ext cx="3794760" cy="4526280"/>
          </a:xfrm>
          <a:prstGeom prst="roundRect">
            <a:avLst>
              <a:gd name="adj" fmla="val 1928"/>
            </a:avLst>
          </a:prstGeom>
          <a:solidFill>
            <a:srgbClr val="F4F4F6"/>
          </a:solidFill>
          <a:ln w="12700">
            <a:solidFill>
              <a:srgbClr val="F4F4F6"/>
            </a:solidFill>
            <a:prstDash val="solid"/>
          </a:ln>
        </p:spPr>
      </p:sp>
      <p:sp>
        <p:nvSpPr>
          <p:cNvPr id="14" name="Text 11"/>
          <p:cNvSpPr txBox="1"/>
          <p:nvPr/>
        </p:nvSpPr>
        <p:spPr>
          <a:xfrm>
            <a:off x="8138160" y="1737360"/>
            <a:ext cx="3291840" cy="365760"/>
          </a:xfrm>
          <a:prstGeom prst="rect">
            <a:avLst/>
          </a:prstGeom>
          <a:noFill/>
          <a:ln/>
        </p:spPr>
        <p:txBody>
          <a:bodyPr wrap="square" lIns="0" tIns="0" rIns="0" bIns="0" rtlCol="0" anchor="ctr"/>
          <a:lstStyle/>
          <a:p>
            <a:pPr indent="0" marL="0">
              <a:buNone/>
            </a:pPr>
            <a:r>
              <a:rPr lang="en-US" sz="1600" b="1" dirty="0">
                <a:solidFill>
                  <a:srgbClr val="A50E1F"/>
                </a:solidFill>
                <a:latin typeface="Arial" pitchFamily="34" charset="0"/>
                <a:ea typeface="Arial" pitchFamily="34" charset="-122"/>
                <a:cs typeface="Arial" pitchFamily="34" charset="-120"/>
              </a:rPr>
              <a:t>Đọc chỉ số</a:t>
            </a:r>
            <a:endParaRPr lang="en-US" sz="1600" dirty="0"/>
          </a:p>
        </p:txBody>
      </p:sp>
      <p:sp>
        <p:nvSpPr>
          <p:cNvPr id="15" name="Text 12"/>
          <p:cNvSpPr txBox="1"/>
          <p:nvPr/>
        </p:nvSpPr>
        <p:spPr>
          <a:xfrm>
            <a:off x="8138160" y="2194560"/>
            <a:ext cx="3291840" cy="37490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2A2D34"/>
                </a:solidFill>
                <a:latin typeface="Arial" pitchFamily="34" charset="0"/>
                <a:ea typeface="Arial" pitchFamily="34" charset="-122"/>
                <a:cs typeface="Arial" pitchFamily="34" charset="-120"/>
              </a:rPr>
              <a:t>MAPE: trung bình % đoán lệch so với giá thật.</a:t>
            </a:r>
            <a:endParaRPr lang="en-US" sz="1250" dirty="0"/>
          </a:p>
          <a:p>
            <a:pPr marL="177800" indent="-177800">
              <a:spcAft>
                <a:spcPts val="600"/>
              </a:spcAft>
              <a:buSzPct val="100000"/>
              <a:buChar char="•"/>
            </a:pPr>
            <a:r>
              <a:rPr lang="en-US" sz="1250" dirty="0">
                <a:solidFill>
                  <a:srgbClr val="2A2D34"/>
                </a:solidFill>
                <a:latin typeface="Arial" pitchFamily="34" charset="0"/>
                <a:ea typeface="Arial" pitchFamily="34" charset="-122"/>
                <a:cs typeface="Arial" pitchFamily="34" charset="-120"/>
              </a:rPr>
              <a:t>MdAPE: % lệch của căn "đứng giữa" — ít bị vài tin lạ kéo lệch.</a:t>
            </a:r>
            <a:endParaRPr lang="en-US" sz="1250" dirty="0"/>
          </a:p>
          <a:p>
            <a:pPr marL="177800" indent="-177800">
              <a:spcAft>
                <a:spcPts val="600"/>
              </a:spcAft>
              <a:buSzPct val="100000"/>
              <a:buChar char="•"/>
            </a:pPr>
            <a:r>
              <a:rPr lang="en-US" sz="1250" dirty="0">
                <a:solidFill>
                  <a:srgbClr val="2A2D34"/>
                </a:solidFill>
                <a:latin typeface="Arial" pitchFamily="34" charset="0"/>
                <a:ea typeface="Arial" pitchFamily="34" charset="-122"/>
                <a:cs typeface="Arial" pitchFamily="34" charset="-120"/>
              </a:rPr>
              <a:t>R²: phần chênh lệch giá mô hình giải thích được (0 → 1).</a:t>
            </a:r>
            <a:endParaRPr lang="en-US" sz="1250" dirty="0"/>
          </a:p>
          <a:p>
            <a:pPr marL="177800" indent="-177800">
              <a:spcAft>
                <a:spcPts val="600"/>
              </a:spcAft>
              <a:buSzPct val="100000"/>
              <a:buChar char="•"/>
            </a:pPr>
            <a:r>
              <a:rPr lang="en-US" sz="1250" dirty="0">
                <a:solidFill>
                  <a:srgbClr val="2A2D34"/>
                </a:solidFill>
                <a:latin typeface="Arial" pitchFamily="34" charset="0"/>
                <a:ea typeface="Arial" pitchFamily="34" charset="-122"/>
                <a:cs typeface="Arial" pitchFamily="34" charset="-120"/>
              </a:rPr>
              <a:t>MAPE 31% nhưng MdAPE 22%: căn điển hình lệch ~22%, một số ít tin lệch rất xa.</a:t>
            </a:r>
            <a:endParaRPr lang="en-US" sz="1250" dirty="0"/>
          </a:p>
        </p:txBody>
      </p:sp>
      <p:sp>
        <p:nvSpPr>
          <p:cNvPr id="16" name="Text 13"/>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17" name="Text 14"/>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11185855" y="0"/>
            <a:ext cx="1005840" cy="1005840"/>
          </a:xfrm>
          <a:prstGeom prst="rtTriangle">
            <a:avLst/>
          </a:prstGeom>
          <a:solidFill>
            <a:srgbClr val="A50E1F"/>
          </a:solidFill>
          <a:ln w="12700">
            <a:solidFill>
              <a:srgbClr val="A50E1F"/>
            </a:solidFill>
            <a:prstDash val="solid"/>
          </a:ln>
        </p:spPr>
      </p:sp>
      <p:sp>
        <p:nvSpPr>
          <p:cNvPr id="3" name="Shape 1"/>
          <p:cNvSpPr/>
          <p:nvPr/>
        </p:nvSpPr>
        <p:spPr>
          <a:xfrm flipH="1" flipV="1">
            <a:off x="11688775" y="0"/>
            <a:ext cx="502920" cy="1508760"/>
          </a:xfrm>
          <a:prstGeom prst="rtTriangle">
            <a:avLst/>
          </a:prstGeom>
          <a:solidFill>
            <a:srgbClr val="E8505B">
              <a:alpha val="80000"/>
            </a:srgbClr>
          </a:solidFill>
          <a:ln w="12700">
            <a:solidFill>
              <a:srgbClr val="E8505B"/>
            </a:solidFill>
            <a:prstDash val="solid"/>
          </a:ln>
        </p:spPr>
      </p:sp>
      <p:sp>
        <p:nvSpPr>
          <p:cNvPr id="4" name="Text 2"/>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GIAI ĐOẠN 4 · EDA CÂU 1</a:t>
            </a:r>
            <a:endParaRPr lang="en-US" sz="1200" dirty="0"/>
          </a:p>
        </p:txBody>
      </p:sp>
      <p:sp>
        <p:nvSpPr>
          <p:cNvPr id="5" name="Text 3"/>
          <p:cNvSpPr txBox="1"/>
          <p:nvPr/>
        </p:nvSpPr>
        <p:spPr>
          <a:xfrm>
            <a:off x="548640" y="658368"/>
            <a:ext cx="10241280" cy="685800"/>
          </a:xfrm>
          <a:prstGeom prst="rect">
            <a:avLst/>
          </a:prstGeom>
          <a:noFill/>
          <a:ln/>
        </p:spPr>
        <p:txBody>
          <a:bodyPr wrap="square" lIns="0" tIns="0" rIns="0" bIns="0" rtlCol="0" anchor="t"/>
          <a:lstStyle/>
          <a:p>
            <a:pPr indent="0" marL="0">
              <a:buNone/>
            </a:pPr>
            <a:r>
              <a:rPr lang="en-US" sz="3000" b="1" dirty="0">
                <a:solidFill>
                  <a:srgbClr val="2A2D34"/>
                </a:solidFill>
                <a:latin typeface="Arial" pitchFamily="34" charset="0"/>
                <a:ea typeface="Arial" pitchFamily="34" charset="-122"/>
                <a:cs typeface="Arial" pitchFamily="34" charset="-120"/>
              </a:rPr>
              <a:t>Cùng tòa nhà, các nguồn rao cùng mức giá</a:t>
            </a:r>
            <a:endParaRPr lang="en-US" sz="3000" dirty="0"/>
          </a:p>
        </p:txBody>
      </p:sp>
      <p:graphicFrame>
        <p:nvGraphicFramePr>
          <p:cNvPr id="6" name="Chart 0" descr=""/>
          <p:cNvGraphicFramePr/>
          <p:nvPr/>
        </p:nvGraphicFramePr>
        <p:xfrm>
          <a:off x="548640" y="146304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2212848" y="5138928"/>
            <a:ext cx="2377440" cy="292608"/>
          </a:xfrm>
          <a:prstGeom prst="rect">
            <a:avLst/>
          </a:prstGeom>
          <a:noFill/>
          <a:ln/>
        </p:spPr>
        <p:txBody>
          <a:bodyPr wrap="square" lIns="0" tIns="0" rIns="0" bIns="0" rtlCol="0" anchor="ctr"/>
          <a:lstStyle/>
          <a:p>
            <a:pPr indent="0" marL="0">
              <a:buNone/>
            </a:pPr>
            <a:r>
              <a:rPr lang="en-US" sz="1200" b="1" dirty="0">
                <a:solidFill>
                  <a:srgbClr val="A50E1F"/>
                </a:solidFill>
                <a:latin typeface="Arial" pitchFamily="34" charset="0"/>
                <a:ea typeface="Arial" pitchFamily="34" charset="-122"/>
                <a:cs typeface="Arial" pitchFamily="34" charset="-120"/>
              </a:rPr>
              <a:t>≈ 0%  (tỷ lệ 1,00)</a:t>
            </a:r>
            <a:endParaRPr lang="en-US" sz="1200" dirty="0"/>
          </a:p>
        </p:txBody>
      </p:sp>
      <p:sp>
        <p:nvSpPr>
          <p:cNvPr id="8" name="Shape 5"/>
          <p:cNvSpPr/>
          <p:nvPr/>
        </p:nvSpPr>
        <p:spPr>
          <a:xfrm>
            <a:off x="7863840" y="1554480"/>
            <a:ext cx="3794760" cy="4526280"/>
          </a:xfrm>
          <a:prstGeom prst="roundRect">
            <a:avLst>
              <a:gd name="adj" fmla="val 1928"/>
            </a:avLst>
          </a:prstGeom>
          <a:solidFill>
            <a:srgbClr val="F4F4F6"/>
          </a:solidFill>
          <a:ln w="12700">
            <a:solidFill>
              <a:srgbClr val="F4F4F6"/>
            </a:solidFill>
            <a:prstDash val="solid"/>
          </a:ln>
        </p:spPr>
      </p:sp>
      <p:sp>
        <p:nvSpPr>
          <p:cNvPr id="9" name="Text 6"/>
          <p:cNvSpPr txBox="1"/>
          <p:nvPr/>
        </p:nvSpPr>
        <p:spPr>
          <a:xfrm>
            <a:off x="8138160" y="1737360"/>
            <a:ext cx="3291840" cy="365760"/>
          </a:xfrm>
          <a:prstGeom prst="rect">
            <a:avLst/>
          </a:prstGeom>
          <a:noFill/>
          <a:ln/>
        </p:spPr>
        <p:txBody>
          <a:bodyPr wrap="square" lIns="0" tIns="0" rIns="0" bIns="0" rtlCol="0" anchor="ctr"/>
          <a:lstStyle/>
          <a:p>
            <a:pPr indent="0" marL="0">
              <a:buNone/>
            </a:pPr>
            <a:r>
              <a:rPr lang="en-US" sz="1600" b="1" dirty="0">
                <a:solidFill>
                  <a:srgbClr val="A50E1F"/>
                </a:solidFill>
                <a:latin typeface="Arial" pitchFamily="34" charset="0"/>
                <a:ea typeface="Arial" pitchFamily="34" charset="-122"/>
                <a:cs typeface="Arial" pitchFamily="34" charset="-120"/>
              </a:rPr>
              <a:t>Kết luận</a:t>
            </a:r>
            <a:endParaRPr lang="en-US" sz="1600" dirty="0"/>
          </a:p>
        </p:txBody>
      </p:sp>
      <p:sp>
        <p:nvSpPr>
          <p:cNvPr id="10" name="Text 7"/>
          <p:cNvSpPr txBox="1"/>
          <p:nvPr/>
        </p:nvSpPr>
        <p:spPr>
          <a:xfrm>
            <a:off x="8138160" y="2194560"/>
            <a:ext cx="3291840" cy="37490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2A2D34"/>
                </a:solidFill>
                <a:latin typeface="Arial" pitchFamily="34" charset="0"/>
                <a:ea typeface="Arial" pitchFamily="34" charset="-122"/>
                <a:cs typeface="Arial" pitchFamily="34" charset="-120"/>
              </a:rPr>
              <a:t>So gộp: batdongsan cao hơn 10–40%.</a:t>
            </a:r>
            <a:endParaRPr lang="en-US" sz="1250" dirty="0"/>
          </a:p>
          <a:p>
            <a:pPr marL="177800" indent="-177800">
              <a:spcAft>
                <a:spcPts val="600"/>
              </a:spcAft>
              <a:buSzPct val="100000"/>
              <a:buChar char="•"/>
            </a:pPr>
            <a:r>
              <a:rPr lang="en-US" sz="1250" dirty="0">
                <a:solidFill>
                  <a:srgbClr val="2A2D34"/>
                </a:solidFill>
                <a:latin typeface="Arial" pitchFamily="34" charset="0"/>
                <a:ea typeface="Arial" pitchFamily="34" charset="-122"/>
                <a:cs typeface="Arial" pitchFamily="34" charset="-120"/>
              </a:rPr>
              <a:t>So cặp trong cùng dự án (150 dự án): tỷ lệ 1,00; một nửa số dự án lệch trong ±5%.</a:t>
            </a:r>
            <a:endParaRPr lang="en-US" sz="1250" dirty="0"/>
          </a:p>
          <a:p>
            <a:pPr marL="177800" indent="-177800">
              <a:spcAft>
                <a:spcPts val="600"/>
              </a:spcAft>
              <a:buSzPct val="100000"/>
              <a:buChar char="•"/>
            </a:pPr>
            <a:r>
              <a:rPr lang="en-US" sz="1250" dirty="0">
                <a:solidFill>
                  <a:srgbClr val="2A2D34"/>
                </a:solidFill>
                <a:latin typeface="Arial" pitchFamily="34" charset="0"/>
                <a:ea typeface="Arial" pitchFamily="34" charset="-122"/>
                <a:cs typeface="Arial" pitchFamily="34" charset="-120"/>
              </a:rPr>
              <a:t>Chênh lệch gộp đến từ thành phần: batdongsan có nhiều dự án cao cấp hơn.</a:t>
            </a:r>
            <a:endParaRPr lang="en-US" sz="1250" dirty="0"/>
          </a:p>
          <a:p>
            <a:pPr marL="177800" indent="-177800">
              <a:spcAft>
                <a:spcPts val="600"/>
              </a:spcAft>
              <a:buSzPct val="100000"/>
              <a:buChar char="•"/>
            </a:pPr>
            <a:r>
              <a:rPr lang="en-US" sz="1250" dirty="0">
                <a:solidFill>
                  <a:srgbClr val="2A2D34"/>
                </a:solidFill>
                <a:latin typeface="Arial" pitchFamily="34" charset="0"/>
                <a:ea typeface="Arial" pitchFamily="34" charset="-122"/>
                <a:cs typeface="Arial" pitchFamily="34" charset="-120"/>
              </a:rPr>
              <a:t>Quyết định: KHÔNG dùng nguồn tin làm feature — tránh mô hình học đường tắt sai.</a:t>
            </a:r>
            <a:endParaRPr lang="en-US" sz="1250" dirty="0"/>
          </a:p>
        </p:txBody>
      </p:sp>
      <p:sp>
        <p:nvSpPr>
          <p:cNvPr id="11" name="Text 8"/>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12" name="Text 9"/>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11185855" y="0"/>
            <a:ext cx="1005840" cy="1005840"/>
          </a:xfrm>
          <a:prstGeom prst="rtTriangle">
            <a:avLst/>
          </a:prstGeom>
          <a:solidFill>
            <a:srgbClr val="A50E1F"/>
          </a:solidFill>
          <a:ln w="12700">
            <a:solidFill>
              <a:srgbClr val="A50E1F"/>
            </a:solidFill>
            <a:prstDash val="solid"/>
          </a:ln>
        </p:spPr>
      </p:sp>
      <p:sp>
        <p:nvSpPr>
          <p:cNvPr id="3" name="Shape 1"/>
          <p:cNvSpPr/>
          <p:nvPr/>
        </p:nvSpPr>
        <p:spPr>
          <a:xfrm flipH="1" flipV="1">
            <a:off x="11688775" y="0"/>
            <a:ext cx="502920" cy="1508760"/>
          </a:xfrm>
          <a:prstGeom prst="rtTriangle">
            <a:avLst/>
          </a:prstGeom>
          <a:solidFill>
            <a:srgbClr val="E8505B">
              <a:alpha val="80000"/>
            </a:srgbClr>
          </a:solidFill>
          <a:ln w="12700">
            <a:solidFill>
              <a:srgbClr val="E8505B"/>
            </a:solidFill>
            <a:prstDash val="solid"/>
          </a:ln>
        </p:spPr>
      </p:sp>
      <p:sp>
        <p:nvSpPr>
          <p:cNvPr id="4" name="Text 2"/>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GIAI ĐOẠN 4 · EDA CÂU 2–3</a:t>
            </a:r>
            <a:endParaRPr lang="en-US" sz="1200" dirty="0"/>
          </a:p>
        </p:txBody>
      </p:sp>
      <p:sp>
        <p:nvSpPr>
          <p:cNvPr id="5" name="Text 3"/>
          <p:cNvSpPr txBox="1"/>
          <p:nvPr/>
        </p:nvSpPr>
        <p:spPr>
          <a:xfrm>
            <a:off x="548640" y="658368"/>
            <a:ext cx="10241280" cy="685800"/>
          </a:xfrm>
          <a:prstGeom prst="rect">
            <a:avLst/>
          </a:prstGeom>
          <a:noFill/>
          <a:ln/>
        </p:spPr>
        <p:txBody>
          <a:bodyPr wrap="square" lIns="0" tIns="0" rIns="0" bIns="0" rtlCol="0" anchor="t"/>
          <a:lstStyle/>
          <a:p>
            <a:pPr indent="0" marL="0">
              <a:buNone/>
            </a:pPr>
            <a:r>
              <a:rPr lang="en-US" sz="3000" b="1" dirty="0">
                <a:solidFill>
                  <a:srgbClr val="2A2D34"/>
                </a:solidFill>
                <a:latin typeface="Arial" pitchFamily="34" charset="0"/>
                <a:ea typeface="Arial" pitchFamily="34" charset="-122"/>
                <a:cs typeface="Arial" pitchFamily="34" charset="-120"/>
              </a:rPr>
              <a:t>Vị trí quyết định giá; diện tích chỉ tác động ở hai đầu</a:t>
            </a:r>
            <a:endParaRPr lang="en-US" sz="3000" dirty="0"/>
          </a:p>
        </p:txBody>
      </p:sp>
      <p:graphicFrame>
        <p:nvGraphicFramePr>
          <p:cNvPr id="6" name="Chart 0" descr=""/>
          <p:cNvGraphicFramePr/>
          <p:nvPr/>
        </p:nvGraphicFramePr>
        <p:xfrm>
          <a:off x="548640" y="1463040"/>
          <a:ext cx="5486400" cy="40233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532120"/>
            <a:ext cx="5486400" cy="64008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Trong cùng một quận, căn đắt (P75) vẫn gấp 1,48 lần căn rẻ (P25) → quận chưa đủ. Dự án trong test chưa từng thấy, nên dùng phường, quận, tọa độ và hàng xóm.</a:t>
            </a:r>
            <a:endParaRPr lang="en-US" sz="1200" dirty="0"/>
          </a:p>
        </p:txBody>
      </p:sp>
      <p:graphicFrame>
        <p:nvGraphicFramePr>
          <p:cNvPr id="8" name="Chart 1" descr=""/>
          <p:cNvGraphicFramePr/>
          <p:nvPr/>
        </p:nvGraphicFramePr>
        <p:xfrm>
          <a:off x="6309360" y="1463040"/>
          <a:ext cx="5349240" cy="402336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6309360" y="5532120"/>
            <a:ext cx="5349240" cy="64008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Căn 40–130 m² cùng dự án gần như cùng giá/m²; căn &gt; 200 m² (penthouse, thông tầng) cao hơn 28% → giữ diện tích và loại căn làm feature.</a:t>
            </a:r>
            <a:endParaRPr lang="en-US" sz="1200" dirty="0"/>
          </a:p>
        </p:txBody>
      </p:sp>
      <p:sp>
        <p:nvSpPr>
          <p:cNvPr id="10" name="Text 6"/>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11" name="Text 7"/>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11185855" y="0"/>
            <a:ext cx="1005840" cy="1005840"/>
          </a:xfrm>
          <a:prstGeom prst="rtTriangle">
            <a:avLst/>
          </a:prstGeom>
          <a:solidFill>
            <a:srgbClr val="A50E1F"/>
          </a:solidFill>
          <a:ln w="12700">
            <a:solidFill>
              <a:srgbClr val="A50E1F"/>
            </a:solidFill>
            <a:prstDash val="solid"/>
          </a:ln>
        </p:spPr>
      </p:sp>
      <p:sp>
        <p:nvSpPr>
          <p:cNvPr id="3" name="Shape 1"/>
          <p:cNvSpPr/>
          <p:nvPr/>
        </p:nvSpPr>
        <p:spPr>
          <a:xfrm flipH="1" flipV="1">
            <a:off x="11688775" y="0"/>
            <a:ext cx="502920" cy="1508760"/>
          </a:xfrm>
          <a:prstGeom prst="rtTriangle">
            <a:avLst/>
          </a:prstGeom>
          <a:solidFill>
            <a:srgbClr val="E8505B">
              <a:alpha val="80000"/>
            </a:srgbClr>
          </a:solidFill>
          <a:ln w="12700">
            <a:solidFill>
              <a:srgbClr val="E8505B"/>
            </a:solidFill>
            <a:prstDash val="solid"/>
          </a:ln>
        </p:spPr>
      </p:sp>
      <p:sp>
        <p:nvSpPr>
          <p:cNvPr id="4" name="Text 2"/>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GIAI ĐOẠN 4 · EDA CÂU 4–5</a:t>
            </a:r>
            <a:endParaRPr lang="en-US" sz="1200" dirty="0"/>
          </a:p>
        </p:txBody>
      </p:sp>
      <p:sp>
        <p:nvSpPr>
          <p:cNvPr id="5" name="Text 3"/>
          <p:cNvSpPr txBox="1"/>
          <p:nvPr/>
        </p:nvSpPr>
        <p:spPr>
          <a:xfrm>
            <a:off x="548640" y="658368"/>
            <a:ext cx="10241280" cy="685800"/>
          </a:xfrm>
          <a:prstGeom prst="rect">
            <a:avLst/>
          </a:prstGeom>
          <a:noFill/>
          <a:ln/>
        </p:spPr>
        <p:txBody>
          <a:bodyPr wrap="square" lIns="0" tIns="0" rIns="0" bIns="0" rtlCol="0" anchor="t"/>
          <a:lstStyle/>
          <a:p>
            <a:pPr indent="0" marL="0">
              <a:buNone/>
            </a:pPr>
            <a:r>
              <a:rPr lang="en-US" sz="3000" b="1" dirty="0">
                <a:solidFill>
                  <a:srgbClr val="2A2D34"/>
                </a:solidFill>
                <a:latin typeface="Arial" pitchFamily="34" charset="0"/>
                <a:ea typeface="Arial" pitchFamily="34" charset="-122"/>
                <a:cs typeface="Arial" pitchFamily="34" charset="-120"/>
              </a:rPr>
              <a:t>Tiện ích và loại căn hộ tạo chênh lệch rõ</a:t>
            </a:r>
            <a:endParaRPr lang="en-US" sz="3000" dirty="0"/>
          </a:p>
        </p:txBody>
      </p:sp>
      <p:graphicFrame>
        <p:nvGraphicFramePr>
          <p:cNvPr id="6" name="Chart 0" descr=""/>
          <p:cNvGraphicFramePr/>
          <p:nvPr/>
        </p:nvGraphicFramePr>
        <p:xfrm>
          <a:off x="548640" y="1463040"/>
          <a:ext cx="512064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486400"/>
            <a:ext cx="5120640" cy="68580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Trong cùng quận còn liên quan tới giá: khoảng cách trung tâm, TTTM, công viên, metro. Trường, chợ, bệnh viện ≈ 0. GRDP tỉnh gần như không liên quan (ρ = 0,12).</a:t>
            </a:r>
            <a:endParaRPr lang="en-US" sz="1200" dirty="0"/>
          </a:p>
        </p:txBody>
      </p:sp>
      <p:graphicFrame>
        <p:nvGraphicFramePr>
          <p:cNvPr id="8" name="Chart 1" descr=""/>
          <p:cNvGraphicFramePr/>
          <p:nvPr/>
        </p:nvGraphicFramePr>
        <p:xfrm>
          <a:off x="5943600" y="1463040"/>
          <a:ext cx="5715000" cy="393192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5943600" y="5486400"/>
            <a:ext cx="5715000" cy="68580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Đưa vào feature: loại căn, loại sở hữu, tình trạng dự án, pháp lý. Nội thất: mỗi nguồn ghi một kiểu → đã gộp nhãn; sau khi gộp ảnh hưởng ≤ ±5%.</a:t>
            </a:r>
            <a:endParaRPr lang="en-US" sz="1200" dirty="0"/>
          </a:p>
        </p:txBody>
      </p:sp>
      <p:sp>
        <p:nvSpPr>
          <p:cNvPr id="10" name="Text 6"/>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11" name="Text 7"/>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11185855" y="0"/>
            <a:ext cx="1005840" cy="1005840"/>
          </a:xfrm>
          <a:prstGeom prst="rtTriangle">
            <a:avLst/>
          </a:prstGeom>
          <a:solidFill>
            <a:srgbClr val="A50E1F"/>
          </a:solidFill>
          <a:ln w="12700">
            <a:solidFill>
              <a:srgbClr val="A50E1F"/>
            </a:solidFill>
            <a:prstDash val="solid"/>
          </a:ln>
        </p:spPr>
      </p:sp>
      <p:sp>
        <p:nvSpPr>
          <p:cNvPr id="3" name="Shape 1"/>
          <p:cNvSpPr/>
          <p:nvPr/>
        </p:nvSpPr>
        <p:spPr>
          <a:xfrm flipH="1" flipV="1">
            <a:off x="11688775" y="0"/>
            <a:ext cx="502920" cy="1508760"/>
          </a:xfrm>
          <a:prstGeom prst="rtTriangle">
            <a:avLst/>
          </a:prstGeom>
          <a:solidFill>
            <a:srgbClr val="E8505B">
              <a:alpha val="80000"/>
            </a:srgbClr>
          </a:solidFill>
          <a:ln w="12700">
            <a:solidFill>
              <a:srgbClr val="E8505B"/>
            </a:solidFill>
            <a:prstDash val="solid"/>
          </a:ln>
        </p:spPr>
      </p:sp>
      <p:sp>
        <p:nvSpPr>
          <p:cNvPr id="4" name="Text 2"/>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GIAI ĐOẠN 4 · EDA CÂU 6</a:t>
            </a:r>
            <a:endParaRPr lang="en-US" sz="1200" dirty="0"/>
          </a:p>
        </p:txBody>
      </p:sp>
      <p:sp>
        <p:nvSpPr>
          <p:cNvPr id="5" name="Text 3"/>
          <p:cNvSpPr txBox="1"/>
          <p:nvPr/>
        </p:nvSpPr>
        <p:spPr>
          <a:xfrm>
            <a:off x="548640" y="658368"/>
            <a:ext cx="10241280" cy="685800"/>
          </a:xfrm>
          <a:prstGeom prst="rect">
            <a:avLst/>
          </a:prstGeom>
          <a:noFill/>
          <a:ln/>
        </p:spPr>
        <p:txBody>
          <a:bodyPr wrap="square" lIns="0" tIns="0" rIns="0" bIns="0" rtlCol="0" anchor="t"/>
          <a:lstStyle/>
          <a:p>
            <a:pPr indent="0" marL="0">
              <a:buNone/>
            </a:pPr>
            <a:r>
              <a:rPr lang="en-US" sz="3000" b="1" dirty="0">
                <a:solidFill>
                  <a:srgbClr val="2A2D34"/>
                </a:solidFill>
                <a:latin typeface="Arial" pitchFamily="34" charset="0"/>
                <a:ea typeface="Arial" pitchFamily="34" charset="-122"/>
                <a:cs typeface="Arial" pitchFamily="34" charset="-120"/>
              </a:rPr>
              <a:t>Đọc tận mắt tin giá lạ → sửa dữ liệu hai lần</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7955280" cy="914400"/>
        </p:xfrm>
        <a:graphic>
          <a:graphicData uri="http://schemas.openxmlformats.org/drawingml/2006/table">
            <a:tbl>
              <a:tblPr/>
              <a:tblGrid>
                <a:gridCol w="640080"/>
                <a:gridCol w="4114800"/>
                <a:gridCol w="2377440"/>
                <a:gridCol w="822960"/>
              </a:tblGrid>
              <a:tr h="411480">
                <a:tc>
                  <a:txBody>
                    <a:bodyPr/>
                    <a:lstStyle/>
                    <a:p>
                      <a:pPr indent="0" marL="0">
                        <a:buNone/>
                      </a:pPr>
                      <a:r>
                        <a:rPr lang="en-US" sz="1200" b="1" dirty="0">
                          <a:solidFill>
                            <a:srgbClr val="FFFFFF"/>
                          </a:solidFill>
                          <a:latin typeface="Arial" pitchFamily="34" charset="0"/>
                          <a:ea typeface="Arial" pitchFamily="34" charset="-122"/>
                          <a:cs typeface="Arial" pitchFamily="34" charset="-120"/>
                        </a:rPr>
                        <a:t>Bản</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2A2D34"/>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Phát hiện</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2A2D34"/>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Cách xử lý</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2A2D3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Số tin</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2A2D34"/>
                    </a:solidFill>
                  </a:tcPr>
                </a:tc>
              </a:tr>
              <a:tr h="566928">
                <a:tc>
                  <a:txBody>
                    <a:bodyPr/>
                    <a:lstStyle/>
                    <a:p>
                      <a:pPr algn="ctr" indent="0" marL="0">
                        <a:buNone/>
                      </a:pPr>
                      <a:r>
                        <a:rPr lang="en-US" sz="1200" b="1" dirty="0">
                          <a:solidFill>
                            <a:srgbClr val="A50E1F"/>
                          </a:solidFill>
                          <a:latin typeface="Arial" pitchFamily="34" charset="0"/>
                          <a:ea typeface="Arial" pitchFamily="34" charset="-122"/>
                          <a:cs typeface="Arial" pitchFamily="34" charset="-120"/>
                        </a:rPr>
                        <a:t>v4</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2A2D34"/>
                          </a:solidFill>
                          <a:latin typeface="Arial" pitchFamily="34" charset="0"/>
                          <a:ea typeface="Arial" pitchFamily="34" charset="-122"/>
                          <a:cs typeface="Arial" pitchFamily="34" charset="-120"/>
                        </a:rPr>
                        <a:t>Nhà phố lọt vào mục căn hộ ("Bán Nhà …, 5 Tầng")</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2A2D34"/>
                          </a:solidFill>
                          <a:latin typeface="Arial" pitchFamily="34" charset="0"/>
                          <a:ea typeface="Arial" pitchFamily="34" charset="-122"/>
                          <a:cs typeface="Arial" pitchFamily="34" charset="-120"/>
                        </a:rPr>
                        <a:t>Loại khỏi phần học</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algn="ctr" indent="0" marL="0">
                        <a:buNone/>
                      </a:pPr>
                      <a:r>
                        <a:rPr lang="en-US" sz="1200" b="1" dirty="0">
                          <a:solidFill>
                            <a:srgbClr val="2A2D34"/>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r>
              <a:tr h="566928">
                <a:tc>
                  <a:txBody>
                    <a:bodyPr/>
                    <a:lstStyle/>
                    <a:p>
                      <a:pPr algn="ctr" indent="0" marL="0">
                        <a:buNone/>
                      </a:pPr>
                      <a:r>
                        <a:rPr lang="en-US" sz="1200" b="1" dirty="0">
                          <a:solidFill>
                            <a:srgbClr val="A50E1F"/>
                          </a:solidFill>
                          <a:latin typeface="Arial" pitchFamily="34" charset="0"/>
                          <a:ea typeface="Arial" pitchFamily="34" charset="-122"/>
                          <a:cs typeface="Arial" pitchFamily="34" charset="-120"/>
                        </a:rPr>
                        <a:t>v4</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2A2D34"/>
                          </a:solidFill>
                          <a:latin typeface="Arial" pitchFamily="34" charset="0"/>
                          <a:ea typeface="Arial" pitchFamily="34" charset="-122"/>
                          <a:cs typeface="Arial" pitchFamily="34" charset="-120"/>
                        </a:rPr>
                        <a:t>Tập thể cũ, nhà ở xã hội chưa gắn nhãn</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2A2D34"/>
                          </a:solidFill>
                          <a:latin typeface="Arial" pitchFamily="34" charset="0"/>
                          <a:ea typeface="Arial" pitchFamily="34" charset="-122"/>
                          <a:cs typeface="Arial" pitchFamily="34" charset="-120"/>
                        </a:rPr>
                        <a:t>Giữ, gắn đúng loại sở hữu</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algn="ctr" indent="0" marL="0">
                        <a:buNone/>
                      </a:pPr>
                      <a:r>
                        <a:rPr lang="en-US" sz="1200" b="1" dirty="0">
                          <a:solidFill>
                            <a:srgbClr val="2A2D34"/>
                          </a:solidFill>
                          <a:latin typeface="Arial" pitchFamily="34" charset="0"/>
                          <a:ea typeface="Arial" pitchFamily="34" charset="-122"/>
                          <a:cs typeface="Arial" pitchFamily="34" charset="-120"/>
                        </a:rPr>
                        <a:t>54</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r>
              <a:tr h="566928">
                <a:tc>
                  <a:txBody>
                    <a:bodyPr/>
                    <a:lstStyle/>
                    <a:p>
                      <a:pPr algn="ctr" indent="0" marL="0">
                        <a:buNone/>
                      </a:pPr>
                      <a:r>
                        <a:rPr lang="en-US" sz="1200" b="1" dirty="0">
                          <a:solidFill>
                            <a:srgbClr val="A50E1F"/>
                          </a:solidFill>
                          <a:latin typeface="Arial" pitchFamily="34" charset="0"/>
                          <a:ea typeface="Arial" pitchFamily="34" charset="-122"/>
                          <a:cs typeface="Arial" pitchFamily="34" charset="-120"/>
                        </a:rPr>
                        <a:t>v4</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2A2D34"/>
                          </a:solidFill>
                          <a:latin typeface="Arial" pitchFamily="34" charset="0"/>
                          <a:ea typeface="Arial" pitchFamily="34" charset="-122"/>
                          <a:cs typeface="Arial" pitchFamily="34" charset="-120"/>
                        </a:rPr>
                        <a:t>Tin "nhận hồ sơ" — không bán căn cụ thể</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2A2D34"/>
                          </a:solidFill>
                          <a:latin typeface="Arial" pitchFamily="34" charset="0"/>
                          <a:ea typeface="Arial" pitchFamily="34" charset="-122"/>
                          <a:cs typeface="Arial" pitchFamily="34" charset="-120"/>
                        </a:rPr>
                        <a:t>Loại: không phải giá bán</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algn="ctr" indent="0" marL="0">
                        <a:buNone/>
                      </a:pPr>
                      <a:r>
                        <a:rPr lang="en-US" sz="1200" b="1" dirty="0">
                          <a:solidFill>
                            <a:srgbClr val="2A2D34"/>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r>
              <a:tr h="566928">
                <a:tc>
                  <a:txBody>
                    <a:bodyPr/>
                    <a:lstStyle/>
                    <a:p>
                      <a:pPr algn="ctr" indent="0" marL="0">
                        <a:buNone/>
                      </a:pPr>
                      <a:r>
                        <a:rPr lang="en-US" sz="1200" b="1" dirty="0">
                          <a:solidFill>
                            <a:srgbClr val="A50E1F"/>
                          </a:solidFill>
                          <a:latin typeface="Arial" pitchFamily="34" charset="0"/>
                          <a:ea typeface="Arial" pitchFamily="34" charset="-122"/>
                          <a:cs typeface="Arial" pitchFamily="34" charset="-120"/>
                        </a:rPr>
                        <a:t>v4</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2A2D34"/>
                          </a:solidFill>
                          <a:latin typeface="Arial" pitchFamily="34" charset="0"/>
                          <a:ea typeface="Arial" pitchFamily="34" charset="-122"/>
                          <a:cs typeface="Arial" pitchFamily="34" charset="-120"/>
                        </a:rPr>
                        <a:t>Gõ nhầm giá ×10 (tiêu đề 2,55 tỷ, ô giá 25,5 tỷ)</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2A2D34"/>
                          </a:solidFill>
                          <a:latin typeface="Arial" pitchFamily="34" charset="0"/>
                          <a:ea typeface="Arial" pitchFamily="34" charset="-122"/>
                          <a:cs typeface="Arial" pitchFamily="34" charset="-120"/>
                        </a:rPr>
                        <a:t>Loại: lỗi giá</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algn="ctr" indent="0" marL="0">
                        <a:buNone/>
                      </a:pPr>
                      <a:r>
                        <a:rPr lang="en-US" sz="1200" b="1" dirty="0">
                          <a:solidFill>
                            <a:srgbClr val="2A2D34"/>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r>
              <a:tr h="566928">
                <a:tc>
                  <a:txBody>
                    <a:bodyPr/>
                    <a:lstStyle/>
                    <a:p>
                      <a:pPr algn="ctr" indent="0" marL="0">
                        <a:buNone/>
                      </a:pPr>
                      <a:r>
                        <a:rPr lang="en-US" sz="1200" b="1" dirty="0">
                          <a:solidFill>
                            <a:srgbClr val="A50E1F"/>
                          </a:solidFill>
                          <a:latin typeface="Arial" pitchFamily="34" charset="0"/>
                          <a:ea typeface="Arial" pitchFamily="34" charset="-122"/>
                          <a:cs typeface="Arial" pitchFamily="34" charset="-120"/>
                        </a:rPr>
                        <a:t>v5</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2A2D34"/>
                          </a:solidFill>
                          <a:latin typeface="Arial" pitchFamily="34" charset="0"/>
                          <a:ea typeface="Arial" pitchFamily="34" charset="-122"/>
                          <a:cs typeface="Arial" pitchFamily="34" charset="-120"/>
                        </a:rPr>
                        <a:t>Chung cư mini mượn tên khu ("CHUNG CƯ A1 …", 2 người đăng)</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2A2D34"/>
                          </a:solidFill>
                          <a:latin typeface="Arial" pitchFamily="34" charset="0"/>
                          <a:ea typeface="Arial" pitchFamily="34" charset="-122"/>
                          <a:cs typeface="Arial" pitchFamily="34" charset="-120"/>
                        </a:rPr>
                        <a:t>Gắn lại: chung cư mini</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algn="ctr" indent="0" marL="0">
                        <a:buNone/>
                      </a:pPr>
                      <a:r>
                        <a:rPr lang="en-US" sz="1200" b="1" dirty="0">
                          <a:solidFill>
                            <a:srgbClr val="2A2D34"/>
                          </a:solidFill>
                          <a:latin typeface="Arial" pitchFamily="34" charset="0"/>
                          <a:ea typeface="Arial" pitchFamily="34" charset="-122"/>
                          <a:cs typeface="Arial" pitchFamily="34" charset="-120"/>
                        </a:rPr>
                        <a:t>52</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r>
              <a:tr h="566928">
                <a:tc>
                  <a:txBody>
                    <a:bodyPr/>
                    <a:lstStyle/>
                    <a:p>
                      <a:pPr algn="ctr" indent="0" marL="0">
                        <a:buNone/>
                      </a:pPr>
                      <a:r>
                        <a:rPr lang="en-US" sz="1200" b="1" dirty="0">
                          <a:solidFill>
                            <a:srgbClr val="A50E1F"/>
                          </a:solidFill>
                          <a:latin typeface="Arial" pitchFamily="34" charset="0"/>
                          <a:ea typeface="Arial" pitchFamily="34" charset="-122"/>
                          <a:cs typeface="Arial" pitchFamily="34" charset="-120"/>
                        </a:rPr>
                        <a:t>v5</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2A2D34"/>
                          </a:solidFill>
                          <a:latin typeface="Arial" pitchFamily="34" charset="0"/>
                          <a:ea typeface="Arial" pitchFamily="34" charset="-122"/>
                          <a:cs typeface="Arial" pitchFamily="34" charset="-120"/>
                        </a:rPr>
                        <a:t>Dự án nhà ở xã hội Becamex Hòa Lợi</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2A2D34"/>
                          </a:solidFill>
                          <a:latin typeface="Arial" pitchFamily="34" charset="0"/>
                          <a:ea typeface="Arial" pitchFamily="34" charset="-122"/>
                          <a:cs typeface="Arial" pitchFamily="34" charset="-120"/>
                        </a:rPr>
                        <a:t>Gắn lại: nhà ở xã hội</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algn="ctr" indent="0" marL="0">
                        <a:buNone/>
                      </a:pPr>
                      <a:r>
                        <a:rPr lang="en-US" sz="1200" b="1" dirty="0">
                          <a:solidFill>
                            <a:srgbClr val="2A2D34"/>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91440" marR="73152" marT="0" marB="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r>
            </a:tbl>
          </a:graphicData>
        </a:graphic>
      </p:graphicFrame>
      <p:sp>
        <p:nvSpPr>
          <p:cNvPr id="7" name="Shape 4"/>
          <p:cNvSpPr/>
          <p:nvPr/>
        </p:nvSpPr>
        <p:spPr>
          <a:xfrm>
            <a:off x="8732520" y="1508760"/>
            <a:ext cx="2926080" cy="4480560"/>
          </a:xfrm>
          <a:prstGeom prst="roundRect">
            <a:avLst>
              <a:gd name="adj" fmla="val 2500"/>
            </a:avLst>
          </a:prstGeom>
          <a:solidFill>
            <a:srgbClr val="F4F4F6"/>
          </a:solidFill>
          <a:ln w="12700">
            <a:solidFill>
              <a:srgbClr val="F4F4F6"/>
            </a:solidFill>
            <a:prstDash val="solid"/>
          </a:ln>
        </p:spPr>
      </p:sp>
      <p:sp>
        <p:nvSpPr>
          <p:cNvPr id="8" name="Text 5"/>
          <p:cNvSpPr txBox="1"/>
          <p:nvPr/>
        </p:nvSpPr>
        <p:spPr>
          <a:xfrm>
            <a:off x="8961120" y="1691640"/>
            <a:ext cx="2560320" cy="365760"/>
          </a:xfrm>
          <a:prstGeom prst="rect">
            <a:avLst/>
          </a:prstGeom>
          <a:noFill/>
          <a:ln/>
        </p:spPr>
        <p:txBody>
          <a:bodyPr wrap="square" lIns="0" tIns="0" rIns="0" bIns="0" rtlCol="0" anchor="ctr"/>
          <a:lstStyle/>
          <a:p>
            <a:pPr indent="0" marL="0">
              <a:buNone/>
            </a:pPr>
            <a:r>
              <a:rPr lang="en-US" sz="1600" b="1" dirty="0">
                <a:solidFill>
                  <a:srgbClr val="A50E1F"/>
                </a:solidFill>
                <a:latin typeface="Arial" pitchFamily="34" charset="0"/>
                <a:ea typeface="Arial" pitchFamily="34" charset="-122"/>
                <a:cs typeface="Arial" pitchFamily="34" charset="-120"/>
              </a:rPr>
              <a:t>Nguyên tắc</a:t>
            </a:r>
            <a:endParaRPr lang="en-US" sz="1600" dirty="0"/>
          </a:p>
        </p:txBody>
      </p:sp>
      <p:sp>
        <p:nvSpPr>
          <p:cNvPr id="9" name="Text 6"/>
          <p:cNvSpPr txBox="1"/>
          <p:nvPr/>
        </p:nvSpPr>
        <p:spPr>
          <a:xfrm>
            <a:off x="8961120" y="2148840"/>
            <a:ext cx="2560320" cy="374904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A2D34"/>
                </a:solidFill>
                <a:latin typeface="Arial" pitchFamily="34" charset="0"/>
                <a:ea typeface="Arial" pitchFamily="34" charset="-122"/>
                <a:cs typeface="Arial" pitchFamily="34" charset="-120"/>
              </a:rPr>
              <a:t>Không xóa "tin trông lạ": penthouse 250 tỷ, tập thể 30 tr/m² là giá thật.</a:t>
            </a:r>
            <a:endParaRPr lang="en-US" sz="1200" dirty="0"/>
          </a:p>
          <a:p>
            <a:pPr marL="177800" indent="-177800">
              <a:spcAft>
                <a:spcPts val="600"/>
              </a:spcAft>
              <a:buSzPct val="100000"/>
              <a:buChar char="•"/>
            </a:pPr>
            <a:r>
              <a:rPr lang="en-US" sz="1200" dirty="0">
                <a:solidFill>
                  <a:srgbClr val="2A2D34"/>
                </a:solidFill>
                <a:latin typeface="Arial" pitchFamily="34" charset="0"/>
                <a:ea typeface="Arial" pitchFamily="34" charset="-122"/>
                <a:cs typeface="Arial" pitchFamily="34" charset="-120"/>
              </a:rPr>
              <a:t>Mỗi luật được thử trên dữ liệu trước khi đưa vào code.</a:t>
            </a:r>
            <a:endParaRPr lang="en-US" sz="1200" dirty="0"/>
          </a:p>
          <a:p>
            <a:pPr marL="177800" indent="-177800">
              <a:spcAft>
                <a:spcPts val="600"/>
              </a:spcAft>
              <a:buSzPct val="100000"/>
              <a:buChar char="•"/>
            </a:pPr>
            <a:r>
              <a:rPr lang="en-US" sz="1200" dirty="0">
                <a:solidFill>
                  <a:srgbClr val="2A2D34"/>
                </a:solidFill>
                <a:latin typeface="Arial" pitchFamily="34" charset="0"/>
                <a:ea typeface="Arial" pitchFamily="34" charset="-122"/>
                <a:cs typeface="Arial" pitchFamily="34" charset="-120"/>
              </a:rPr>
              <a:t>Đã bỏ 2 luật vì bắt nhầm: "trả trước" (đa số vẫn ghi đúng tổng giá), "TT" (thường là "thanh toán").</a:t>
            </a:r>
            <a:endParaRPr lang="en-US" sz="1200" dirty="0"/>
          </a:p>
          <a:p>
            <a:pPr marL="177800" indent="-177800">
              <a:spcAft>
                <a:spcPts val="600"/>
              </a:spcAft>
              <a:buSzPct val="100000"/>
              <a:buChar char="•"/>
            </a:pPr>
            <a:r>
              <a:rPr lang="en-US" sz="1200" dirty="0">
                <a:solidFill>
                  <a:srgbClr val="2A2D34"/>
                </a:solidFill>
                <a:latin typeface="Arial" pitchFamily="34" charset="0"/>
                <a:ea typeface="Arial" pitchFamily="34" charset="-122"/>
                <a:cs typeface="Arial" pitchFamily="34" charset="-120"/>
              </a:rPr>
              <a:t>Mỗi lần sửa → đóng băng phiên bản mới, chạy lại toàn bộ.</a:t>
            </a:r>
            <a:endParaRPr lang="en-US" sz="1200" dirty="0"/>
          </a:p>
        </p:txBody>
      </p:sp>
      <p:sp>
        <p:nvSpPr>
          <p:cNvPr id="10" name="Text 7"/>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11" name="Text 8"/>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11185855" y="0"/>
            <a:ext cx="1005840" cy="1005840"/>
          </a:xfrm>
          <a:prstGeom prst="rtTriangle">
            <a:avLst/>
          </a:prstGeom>
          <a:solidFill>
            <a:srgbClr val="A50E1F"/>
          </a:solidFill>
          <a:ln w="12700">
            <a:solidFill>
              <a:srgbClr val="A50E1F"/>
            </a:solidFill>
            <a:prstDash val="solid"/>
          </a:ln>
        </p:spPr>
      </p:sp>
      <p:sp>
        <p:nvSpPr>
          <p:cNvPr id="3" name="Shape 1"/>
          <p:cNvSpPr/>
          <p:nvPr/>
        </p:nvSpPr>
        <p:spPr>
          <a:xfrm flipH="1" flipV="1">
            <a:off x="11688775" y="0"/>
            <a:ext cx="502920" cy="1508760"/>
          </a:xfrm>
          <a:prstGeom prst="rtTriangle">
            <a:avLst/>
          </a:prstGeom>
          <a:solidFill>
            <a:srgbClr val="E8505B">
              <a:alpha val="80000"/>
            </a:srgbClr>
          </a:solidFill>
          <a:ln w="12700">
            <a:solidFill>
              <a:srgbClr val="E8505B"/>
            </a:solidFill>
            <a:prstDash val="solid"/>
          </a:ln>
        </p:spPr>
      </p:sp>
      <p:sp>
        <p:nvSpPr>
          <p:cNvPr id="4" name="Text 2"/>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GIAI ĐOẠN 5 · TẠO FEATURE</a:t>
            </a:r>
            <a:endParaRPr lang="en-US" sz="1200" dirty="0"/>
          </a:p>
        </p:txBody>
      </p:sp>
      <p:sp>
        <p:nvSpPr>
          <p:cNvPr id="5" name="Text 3"/>
          <p:cNvSpPr txBox="1"/>
          <p:nvPr/>
        </p:nvSpPr>
        <p:spPr>
          <a:xfrm>
            <a:off x="548640" y="658368"/>
            <a:ext cx="10241280" cy="685800"/>
          </a:xfrm>
          <a:prstGeom prst="rect">
            <a:avLst/>
          </a:prstGeom>
          <a:noFill/>
          <a:ln/>
        </p:spPr>
        <p:txBody>
          <a:bodyPr wrap="square" lIns="0" tIns="0" rIns="0" bIns="0" rtlCol="0" anchor="t"/>
          <a:lstStyle/>
          <a:p>
            <a:pPr indent="0" marL="0">
              <a:buNone/>
            </a:pPr>
            <a:r>
              <a:rPr lang="en-US" sz="3000" b="1" dirty="0">
                <a:solidFill>
                  <a:srgbClr val="2A2D34"/>
                </a:solidFill>
                <a:latin typeface="Arial" pitchFamily="34" charset="0"/>
                <a:ea typeface="Arial" pitchFamily="34" charset="-122"/>
                <a:cs typeface="Arial" pitchFamily="34" charset="-120"/>
              </a:rPr>
              <a:t>38 feature trong 6 nhóm, mỗi nhóm có lý do từ EDA</a:t>
            </a:r>
            <a:endParaRPr lang="en-US" sz="3000" dirty="0"/>
          </a:p>
        </p:txBody>
      </p:sp>
      <p:sp>
        <p:nvSpPr>
          <p:cNvPr id="6" name="Shape 4"/>
          <p:cNvSpPr/>
          <p:nvPr/>
        </p:nvSpPr>
        <p:spPr>
          <a:xfrm>
            <a:off x="548640" y="1554480"/>
            <a:ext cx="3520440" cy="1920240"/>
          </a:xfrm>
          <a:prstGeom prst="roundRect">
            <a:avLst>
              <a:gd name="adj" fmla="val 3810"/>
            </a:avLst>
          </a:prstGeom>
          <a:solidFill>
            <a:srgbClr val="F4F4F6"/>
          </a:solidFill>
          <a:ln w="12700">
            <a:solidFill>
              <a:srgbClr val="F4F4F6"/>
            </a:solidFill>
            <a:prstDash val="solid"/>
          </a:ln>
        </p:spPr>
      </p:sp>
      <p:sp>
        <p:nvSpPr>
          <p:cNvPr id="7" name="Text 5"/>
          <p:cNvSpPr txBox="1"/>
          <p:nvPr/>
        </p:nvSpPr>
        <p:spPr>
          <a:xfrm>
            <a:off x="777240" y="1737360"/>
            <a:ext cx="914400" cy="548640"/>
          </a:xfrm>
          <a:prstGeom prst="rect">
            <a:avLst/>
          </a:prstGeom>
          <a:noFill/>
          <a:ln/>
        </p:spPr>
        <p:txBody>
          <a:bodyPr wrap="square" lIns="0" tIns="0" rIns="0" bIns="0" rtlCol="0" anchor="ctr"/>
          <a:lstStyle/>
          <a:p>
            <a:pPr indent="0" marL="0">
              <a:buNone/>
            </a:pPr>
            <a:r>
              <a:rPr lang="en-US" sz="3200" b="1" dirty="0">
                <a:solidFill>
                  <a:srgbClr val="A50E1F"/>
                </a:solidFill>
                <a:latin typeface="Arial" pitchFamily="34" charset="0"/>
                <a:ea typeface="Arial" pitchFamily="34" charset="-122"/>
                <a:cs typeface="Arial" pitchFamily="34" charset="-120"/>
              </a:rPr>
              <a:t>13</a:t>
            </a:r>
            <a:endParaRPr lang="en-US" sz="3200" dirty="0"/>
          </a:p>
        </p:txBody>
      </p:sp>
      <p:sp>
        <p:nvSpPr>
          <p:cNvPr id="8" name="Text 6"/>
          <p:cNvSpPr txBox="1"/>
          <p:nvPr/>
        </p:nvSpPr>
        <p:spPr>
          <a:xfrm>
            <a:off x="1600200" y="1828800"/>
            <a:ext cx="2286000" cy="411480"/>
          </a:xfrm>
          <a:prstGeom prst="rect">
            <a:avLst/>
          </a:prstGeom>
          <a:noFill/>
          <a:ln/>
        </p:spPr>
        <p:txBody>
          <a:bodyPr wrap="square" lIns="0" tIns="0" rIns="0" bIns="0" rtlCol="0" anchor="ctr"/>
          <a:lstStyle/>
          <a:p>
            <a:pPr indent="0" marL="0">
              <a:buNone/>
            </a:pPr>
            <a:r>
              <a:rPr lang="en-US" sz="1600" b="1" dirty="0">
                <a:solidFill>
                  <a:srgbClr val="2A2D34"/>
                </a:solidFill>
                <a:latin typeface="Arial" pitchFamily="34" charset="0"/>
                <a:ea typeface="Arial" pitchFamily="34" charset="-122"/>
                <a:cs typeface="Arial" pitchFamily="34" charset="-120"/>
              </a:rPr>
              <a:t>Căn hộ</a:t>
            </a:r>
            <a:endParaRPr lang="en-US" sz="1600" dirty="0"/>
          </a:p>
        </p:txBody>
      </p:sp>
      <p:sp>
        <p:nvSpPr>
          <p:cNvPr id="9" name="Text 7"/>
          <p:cNvSpPr txBox="1"/>
          <p:nvPr/>
        </p:nvSpPr>
        <p:spPr>
          <a:xfrm>
            <a:off x="777240" y="2377440"/>
            <a:ext cx="3108960" cy="1005840"/>
          </a:xfrm>
          <a:prstGeom prst="rect">
            <a:avLst/>
          </a:prstGeom>
          <a:noFill/>
          <a:ln/>
        </p:spPr>
        <p:txBody>
          <a:bodyPr wrap="square" lIns="0" tIns="0" rIns="0" bIns="0" rtlCol="0" anchor="t"/>
          <a:lstStyle/>
          <a:p>
            <a:pPr indent="0" marL="0">
              <a:buNone/>
            </a:pPr>
            <a:r>
              <a:rPr lang="en-US" sz="1150" dirty="0">
                <a:solidFill>
                  <a:srgbClr val="2A2D34"/>
                </a:solidFill>
                <a:latin typeface="Arial" pitchFamily="34" charset="0"/>
                <a:ea typeface="Arial" pitchFamily="34" charset="-122"/>
                <a:cs typeface="Arial" pitchFamily="34" charset="-120"/>
              </a:rPr>
              <a:t>Diện tích, phòng ngủ, WC, tầng, căn góc, loại căn, loại sở hữu, pháp lý, tình trạng dự án, nội thất, hướng ban công, vùng.</a:t>
            </a:r>
            <a:endParaRPr lang="en-US" sz="1150" dirty="0"/>
          </a:p>
        </p:txBody>
      </p:sp>
      <p:sp>
        <p:nvSpPr>
          <p:cNvPr id="10" name="Shape 8"/>
          <p:cNvSpPr/>
          <p:nvPr/>
        </p:nvSpPr>
        <p:spPr>
          <a:xfrm>
            <a:off x="4297680" y="1554480"/>
            <a:ext cx="3520440" cy="1920240"/>
          </a:xfrm>
          <a:prstGeom prst="roundRect">
            <a:avLst>
              <a:gd name="adj" fmla="val 3810"/>
            </a:avLst>
          </a:prstGeom>
          <a:solidFill>
            <a:srgbClr val="F4F4F6"/>
          </a:solidFill>
          <a:ln w="12700">
            <a:solidFill>
              <a:srgbClr val="F4F4F6"/>
            </a:solidFill>
            <a:prstDash val="solid"/>
          </a:ln>
        </p:spPr>
      </p:sp>
      <p:sp>
        <p:nvSpPr>
          <p:cNvPr id="11" name="Text 9"/>
          <p:cNvSpPr txBox="1"/>
          <p:nvPr/>
        </p:nvSpPr>
        <p:spPr>
          <a:xfrm>
            <a:off x="4526280" y="1737360"/>
            <a:ext cx="914400" cy="548640"/>
          </a:xfrm>
          <a:prstGeom prst="rect">
            <a:avLst/>
          </a:prstGeom>
          <a:noFill/>
          <a:ln/>
        </p:spPr>
        <p:txBody>
          <a:bodyPr wrap="square" lIns="0" tIns="0" rIns="0" bIns="0" rtlCol="0" anchor="ctr"/>
          <a:lstStyle/>
          <a:p>
            <a:pPr indent="0" marL="0">
              <a:buNone/>
            </a:pPr>
            <a:r>
              <a:rPr lang="en-US" sz="3200" b="1" dirty="0">
                <a:solidFill>
                  <a:srgbClr val="A50E1F"/>
                </a:solidFill>
                <a:latin typeface="Arial" pitchFamily="34" charset="0"/>
                <a:ea typeface="Arial" pitchFamily="34" charset="-122"/>
                <a:cs typeface="Arial" pitchFamily="34" charset="-120"/>
              </a:rPr>
              <a:t>3</a:t>
            </a:r>
            <a:endParaRPr lang="en-US" sz="3200" dirty="0"/>
          </a:p>
        </p:txBody>
      </p:sp>
      <p:sp>
        <p:nvSpPr>
          <p:cNvPr id="12" name="Text 10"/>
          <p:cNvSpPr txBox="1"/>
          <p:nvPr/>
        </p:nvSpPr>
        <p:spPr>
          <a:xfrm>
            <a:off x="5349240" y="1828800"/>
            <a:ext cx="2286000" cy="411480"/>
          </a:xfrm>
          <a:prstGeom prst="rect">
            <a:avLst/>
          </a:prstGeom>
          <a:noFill/>
          <a:ln/>
        </p:spPr>
        <p:txBody>
          <a:bodyPr wrap="square" lIns="0" tIns="0" rIns="0" bIns="0" rtlCol="0" anchor="ctr"/>
          <a:lstStyle/>
          <a:p>
            <a:pPr indent="0" marL="0">
              <a:buNone/>
            </a:pPr>
            <a:r>
              <a:rPr lang="en-US" sz="1600" b="1" dirty="0">
                <a:solidFill>
                  <a:srgbClr val="2A2D34"/>
                </a:solidFill>
                <a:latin typeface="Arial" pitchFamily="34" charset="0"/>
                <a:ea typeface="Arial" pitchFamily="34" charset="-122"/>
                <a:cs typeface="Arial" pitchFamily="34" charset="-120"/>
              </a:rPr>
              <a:t>Giá khu vực</a:t>
            </a:r>
            <a:endParaRPr lang="en-US" sz="1600" dirty="0"/>
          </a:p>
        </p:txBody>
      </p:sp>
      <p:sp>
        <p:nvSpPr>
          <p:cNvPr id="13" name="Text 11"/>
          <p:cNvSpPr txBox="1"/>
          <p:nvPr/>
        </p:nvSpPr>
        <p:spPr>
          <a:xfrm>
            <a:off x="4526280" y="2377440"/>
            <a:ext cx="3108960" cy="1005840"/>
          </a:xfrm>
          <a:prstGeom prst="rect">
            <a:avLst/>
          </a:prstGeom>
          <a:noFill/>
          <a:ln/>
        </p:spPr>
        <p:txBody>
          <a:bodyPr wrap="square" lIns="0" tIns="0" rIns="0" bIns="0" rtlCol="0" anchor="t"/>
          <a:lstStyle/>
          <a:p>
            <a:pPr indent="0" marL="0">
              <a:buNone/>
            </a:pPr>
            <a:r>
              <a:rPr lang="en-US" sz="1150" dirty="0">
                <a:solidFill>
                  <a:srgbClr val="2A2D34"/>
                </a:solidFill>
                <a:latin typeface="Arial" pitchFamily="34" charset="0"/>
                <a:ea typeface="Arial" pitchFamily="34" charset="-122"/>
                <a:cs typeface="Arial" pitchFamily="34" charset="-120"/>
              </a:rPr>
              <a:t>Giá thường của tỉnh, quận, phường — làm mượt theo cấp: phường ít tin kéo về giá quận.</a:t>
            </a:r>
            <a:endParaRPr lang="en-US" sz="1150" dirty="0"/>
          </a:p>
        </p:txBody>
      </p:sp>
      <p:sp>
        <p:nvSpPr>
          <p:cNvPr id="14" name="Shape 12"/>
          <p:cNvSpPr/>
          <p:nvPr/>
        </p:nvSpPr>
        <p:spPr>
          <a:xfrm>
            <a:off x="8046720" y="1554480"/>
            <a:ext cx="3520440" cy="1920240"/>
          </a:xfrm>
          <a:prstGeom prst="roundRect">
            <a:avLst>
              <a:gd name="adj" fmla="val 3810"/>
            </a:avLst>
          </a:prstGeom>
          <a:solidFill>
            <a:srgbClr val="F4F4F6"/>
          </a:solidFill>
          <a:ln w="12700">
            <a:solidFill>
              <a:srgbClr val="F4F4F6"/>
            </a:solidFill>
            <a:prstDash val="solid"/>
          </a:ln>
        </p:spPr>
      </p:sp>
      <p:sp>
        <p:nvSpPr>
          <p:cNvPr id="15" name="Text 13"/>
          <p:cNvSpPr txBox="1"/>
          <p:nvPr/>
        </p:nvSpPr>
        <p:spPr>
          <a:xfrm>
            <a:off x="8275320" y="1737360"/>
            <a:ext cx="914400" cy="548640"/>
          </a:xfrm>
          <a:prstGeom prst="rect">
            <a:avLst/>
          </a:prstGeom>
          <a:noFill/>
          <a:ln/>
        </p:spPr>
        <p:txBody>
          <a:bodyPr wrap="square" lIns="0" tIns="0" rIns="0" bIns="0" rtlCol="0" anchor="ctr"/>
          <a:lstStyle/>
          <a:p>
            <a:pPr indent="0" marL="0">
              <a:buNone/>
            </a:pPr>
            <a:r>
              <a:rPr lang="en-US" sz="3200" b="1" dirty="0">
                <a:solidFill>
                  <a:srgbClr val="A50E1F"/>
                </a:solidFill>
                <a:latin typeface="Arial" pitchFamily="34" charset="0"/>
                <a:ea typeface="Arial" pitchFamily="34" charset="-122"/>
                <a:cs typeface="Arial" pitchFamily="34" charset="-120"/>
              </a:rPr>
              <a:t>2</a:t>
            </a:r>
            <a:endParaRPr lang="en-US" sz="3200" dirty="0"/>
          </a:p>
        </p:txBody>
      </p:sp>
      <p:sp>
        <p:nvSpPr>
          <p:cNvPr id="16" name="Text 14"/>
          <p:cNvSpPr txBox="1"/>
          <p:nvPr/>
        </p:nvSpPr>
        <p:spPr>
          <a:xfrm>
            <a:off x="9098280" y="1828800"/>
            <a:ext cx="2286000" cy="411480"/>
          </a:xfrm>
          <a:prstGeom prst="rect">
            <a:avLst/>
          </a:prstGeom>
          <a:noFill/>
          <a:ln/>
        </p:spPr>
        <p:txBody>
          <a:bodyPr wrap="square" lIns="0" tIns="0" rIns="0" bIns="0" rtlCol="0" anchor="ctr"/>
          <a:lstStyle/>
          <a:p>
            <a:pPr indent="0" marL="0">
              <a:buNone/>
            </a:pPr>
            <a:r>
              <a:rPr lang="en-US" sz="1600" b="1" dirty="0">
                <a:solidFill>
                  <a:srgbClr val="2A2D34"/>
                </a:solidFill>
                <a:latin typeface="Arial" pitchFamily="34" charset="0"/>
                <a:ea typeface="Arial" pitchFamily="34" charset="-122"/>
                <a:cs typeface="Arial" pitchFamily="34" charset="-120"/>
              </a:rPr>
              <a:t>Giá hàng xóm</a:t>
            </a:r>
            <a:endParaRPr lang="en-US" sz="1600" dirty="0"/>
          </a:p>
        </p:txBody>
      </p:sp>
      <p:sp>
        <p:nvSpPr>
          <p:cNvPr id="17" name="Text 15"/>
          <p:cNvSpPr txBox="1"/>
          <p:nvPr/>
        </p:nvSpPr>
        <p:spPr>
          <a:xfrm>
            <a:off x="8275320" y="2377440"/>
            <a:ext cx="3108960" cy="1005840"/>
          </a:xfrm>
          <a:prstGeom prst="rect">
            <a:avLst/>
          </a:prstGeom>
          <a:noFill/>
          <a:ln/>
        </p:spPr>
        <p:txBody>
          <a:bodyPr wrap="square" lIns="0" tIns="0" rIns="0" bIns="0" rtlCol="0" anchor="t"/>
          <a:lstStyle/>
          <a:p>
            <a:pPr indent="0" marL="0">
              <a:buNone/>
            </a:pPr>
            <a:r>
              <a:rPr lang="en-US" sz="1150" dirty="0">
                <a:solidFill>
                  <a:srgbClr val="2A2D34"/>
                </a:solidFill>
                <a:latin typeface="Arial" pitchFamily="34" charset="0"/>
                <a:ea typeface="Arial" pitchFamily="34" charset="-122"/>
                <a:cs typeface="Arial" pitchFamily="34" charset="-120"/>
              </a:rPr>
              <a:t>Giá thường của 10 căn gần nhất (≤ 5 km, khác tòa) và khoảng cách tới chúng.</a:t>
            </a:r>
            <a:endParaRPr lang="en-US" sz="1150" dirty="0"/>
          </a:p>
        </p:txBody>
      </p:sp>
      <p:sp>
        <p:nvSpPr>
          <p:cNvPr id="18" name="Shape 16"/>
          <p:cNvSpPr/>
          <p:nvPr/>
        </p:nvSpPr>
        <p:spPr>
          <a:xfrm>
            <a:off x="548640" y="3657600"/>
            <a:ext cx="3520440" cy="1920240"/>
          </a:xfrm>
          <a:prstGeom prst="roundRect">
            <a:avLst>
              <a:gd name="adj" fmla="val 3810"/>
            </a:avLst>
          </a:prstGeom>
          <a:solidFill>
            <a:srgbClr val="F4F4F6"/>
          </a:solidFill>
          <a:ln w="12700">
            <a:solidFill>
              <a:srgbClr val="F4F4F6"/>
            </a:solidFill>
            <a:prstDash val="solid"/>
          </a:ln>
        </p:spPr>
      </p:sp>
      <p:sp>
        <p:nvSpPr>
          <p:cNvPr id="19" name="Text 17"/>
          <p:cNvSpPr txBox="1"/>
          <p:nvPr/>
        </p:nvSpPr>
        <p:spPr>
          <a:xfrm>
            <a:off x="777240" y="3840480"/>
            <a:ext cx="914400" cy="548640"/>
          </a:xfrm>
          <a:prstGeom prst="rect">
            <a:avLst/>
          </a:prstGeom>
          <a:noFill/>
          <a:ln/>
        </p:spPr>
        <p:txBody>
          <a:bodyPr wrap="square" lIns="0" tIns="0" rIns="0" bIns="0" rtlCol="0" anchor="ctr"/>
          <a:lstStyle/>
          <a:p>
            <a:pPr indent="0" marL="0">
              <a:buNone/>
            </a:pPr>
            <a:r>
              <a:rPr lang="en-US" sz="3200" b="1" dirty="0">
                <a:solidFill>
                  <a:srgbClr val="A50E1F"/>
                </a:solidFill>
                <a:latin typeface="Arial" pitchFamily="34" charset="0"/>
                <a:ea typeface="Arial" pitchFamily="34" charset="-122"/>
                <a:cs typeface="Arial" pitchFamily="34" charset="-120"/>
              </a:rPr>
              <a:t>2</a:t>
            </a:r>
            <a:endParaRPr lang="en-US" sz="3200" dirty="0"/>
          </a:p>
        </p:txBody>
      </p:sp>
      <p:sp>
        <p:nvSpPr>
          <p:cNvPr id="20" name="Text 18"/>
          <p:cNvSpPr txBox="1"/>
          <p:nvPr/>
        </p:nvSpPr>
        <p:spPr>
          <a:xfrm>
            <a:off x="1600200" y="3931920"/>
            <a:ext cx="2286000" cy="411480"/>
          </a:xfrm>
          <a:prstGeom prst="rect">
            <a:avLst/>
          </a:prstGeom>
          <a:noFill/>
          <a:ln/>
        </p:spPr>
        <p:txBody>
          <a:bodyPr wrap="square" lIns="0" tIns="0" rIns="0" bIns="0" rtlCol="0" anchor="ctr"/>
          <a:lstStyle/>
          <a:p>
            <a:pPr indent="0" marL="0">
              <a:buNone/>
            </a:pPr>
            <a:r>
              <a:rPr lang="en-US" sz="1600" b="1" dirty="0">
                <a:solidFill>
                  <a:srgbClr val="2A2D34"/>
                </a:solidFill>
                <a:latin typeface="Arial" pitchFamily="34" charset="0"/>
                <a:ea typeface="Arial" pitchFamily="34" charset="-122"/>
                <a:cs typeface="Arial" pitchFamily="34" charset="-120"/>
              </a:rPr>
              <a:t>Tọa độ</a:t>
            </a:r>
            <a:endParaRPr lang="en-US" sz="1600" dirty="0"/>
          </a:p>
        </p:txBody>
      </p:sp>
      <p:sp>
        <p:nvSpPr>
          <p:cNvPr id="21" name="Text 19"/>
          <p:cNvSpPr txBox="1"/>
          <p:nvPr/>
        </p:nvSpPr>
        <p:spPr>
          <a:xfrm>
            <a:off x="777240" y="4480560"/>
            <a:ext cx="3108960" cy="1005840"/>
          </a:xfrm>
          <a:prstGeom prst="rect">
            <a:avLst/>
          </a:prstGeom>
          <a:noFill/>
          <a:ln/>
        </p:spPr>
        <p:txBody>
          <a:bodyPr wrap="square" lIns="0" tIns="0" rIns="0" bIns="0" rtlCol="0" anchor="t"/>
          <a:lstStyle/>
          <a:p>
            <a:pPr indent="0" marL="0">
              <a:buNone/>
            </a:pPr>
            <a:r>
              <a:rPr lang="en-US" sz="1150" dirty="0">
                <a:solidFill>
                  <a:srgbClr val="2A2D34"/>
                </a:solidFill>
                <a:latin typeface="Arial" pitchFamily="34" charset="0"/>
                <a:ea typeface="Arial" pitchFamily="34" charset="-122"/>
                <a:cs typeface="Arial" pitchFamily="34" charset="-120"/>
              </a:rPr>
              <a:t>Vĩ độ, kinh độ — phân biệt các căn trong cùng phường.</a:t>
            </a:r>
            <a:endParaRPr lang="en-US" sz="1150" dirty="0"/>
          </a:p>
        </p:txBody>
      </p:sp>
      <p:sp>
        <p:nvSpPr>
          <p:cNvPr id="22" name="Shape 20"/>
          <p:cNvSpPr/>
          <p:nvPr/>
        </p:nvSpPr>
        <p:spPr>
          <a:xfrm>
            <a:off x="4297680" y="3657600"/>
            <a:ext cx="3520440" cy="1920240"/>
          </a:xfrm>
          <a:prstGeom prst="roundRect">
            <a:avLst>
              <a:gd name="adj" fmla="val 3810"/>
            </a:avLst>
          </a:prstGeom>
          <a:solidFill>
            <a:srgbClr val="F4F4F6"/>
          </a:solidFill>
          <a:ln w="12700">
            <a:solidFill>
              <a:srgbClr val="F4F4F6"/>
            </a:solidFill>
            <a:prstDash val="solid"/>
          </a:ln>
        </p:spPr>
      </p:sp>
      <p:sp>
        <p:nvSpPr>
          <p:cNvPr id="23" name="Text 21"/>
          <p:cNvSpPr txBox="1"/>
          <p:nvPr/>
        </p:nvSpPr>
        <p:spPr>
          <a:xfrm>
            <a:off x="4526280" y="3840480"/>
            <a:ext cx="914400" cy="548640"/>
          </a:xfrm>
          <a:prstGeom prst="rect">
            <a:avLst/>
          </a:prstGeom>
          <a:noFill/>
          <a:ln/>
        </p:spPr>
        <p:txBody>
          <a:bodyPr wrap="square" lIns="0" tIns="0" rIns="0" bIns="0" rtlCol="0" anchor="ctr"/>
          <a:lstStyle/>
          <a:p>
            <a:pPr indent="0" marL="0">
              <a:buNone/>
            </a:pPr>
            <a:r>
              <a:rPr lang="en-US" sz="3200" b="1" dirty="0">
                <a:solidFill>
                  <a:srgbClr val="A50E1F"/>
                </a:solidFill>
                <a:latin typeface="Arial" pitchFamily="34" charset="0"/>
                <a:ea typeface="Arial" pitchFamily="34" charset="-122"/>
                <a:cs typeface="Arial" pitchFamily="34" charset="-120"/>
              </a:rPr>
              <a:t>14</a:t>
            </a:r>
            <a:endParaRPr lang="en-US" sz="3200" dirty="0"/>
          </a:p>
        </p:txBody>
      </p:sp>
      <p:sp>
        <p:nvSpPr>
          <p:cNvPr id="24" name="Text 22"/>
          <p:cNvSpPr txBox="1"/>
          <p:nvPr/>
        </p:nvSpPr>
        <p:spPr>
          <a:xfrm>
            <a:off x="5349240" y="3931920"/>
            <a:ext cx="2286000" cy="411480"/>
          </a:xfrm>
          <a:prstGeom prst="rect">
            <a:avLst/>
          </a:prstGeom>
          <a:noFill/>
          <a:ln/>
        </p:spPr>
        <p:txBody>
          <a:bodyPr wrap="square" lIns="0" tIns="0" rIns="0" bIns="0" rtlCol="0" anchor="ctr"/>
          <a:lstStyle/>
          <a:p>
            <a:pPr indent="0" marL="0">
              <a:buNone/>
            </a:pPr>
            <a:r>
              <a:rPr lang="en-US" sz="1600" b="1" dirty="0">
                <a:solidFill>
                  <a:srgbClr val="2A2D34"/>
                </a:solidFill>
                <a:latin typeface="Arial" pitchFamily="34" charset="0"/>
                <a:ea typeface="Arial" pitchFamily="34" charset="-122"/>
                <a:cs typeface="Arial" pitchFamily="34" charset="-120"/>
              </a:rPr>
              <a:t>Tiện ích</a:t>
            </a:r>
            <a:endParaRPr lang="en-US" sz="1600" dirty="0"/>
          </a:p>
        </p:txBody>
      </p:sp>
      <p:sp>
        <p:nvSpPr>
          <p:cNvPr id="25" name="Text 23"/>
          <p:cNvSpPr txBox="1"/>
          <p:nvPr/>
        </p:nvSpPr>
        <p:spPr>
          <a:xfrm>
            <a:off x="4526280" y="4480560"/>
            <a:ext cx="3108960" cy="1005840"/>
          </a:xfrm>
          <a:prstGeom prst="rect">
            <a:avLst/>
          </a:prstGeom>
          <a:noFill/>
          <a:ln/>
        </p:spPr>
        <p:txBody>
          <a:bodyPr wrap="square" lIns="0" tIns="0" rIns="0" bIns="0" rtlCol="0" anchor="t"/>
          <a:lstStyle/>
          <a:p>
            <a:pPr indent="0" marL="0">
              <a:buNone/>
            </a:pPr>
            <a:r>
              <a:rPr lang="en-US" sz="1150" dirty="0">
                <a:solidFill>
                  <a:srgbClr val="2A2D34"/>
                </a:solidFill>
                <a:latin typeface="Arial" pitchFamily="34" charset="0"/>
                <a:ea typeface="Arial" pitchFamily="34" charset="-122"/>
                <a:cs typeface="Arial" pitchFamily="34" charset="-120"/>
              </a:rPr>
              <a:t>Khoảng cách tới TTTM, công viên, siêu thị, bệnh viện, trường, chợ, trung tâm, metro; số tiện ích trong 1 km.</a:t>
            </a:r>
            <a:endParaRPr lang="en-US" sz="1150" dirty="0"/>
          </a:p>
        </p:txBody>
      </p:sp>
      <p:sp>
        <p:nvSpPr>
          <p:cNvPr id="26" name="Shape 24"/>
          <p:cNvSpPr/>
          <p:nvPr/>
        </p:nvSpPr>
        <p:spPr>
          <a:xfrm>
            <a:off x="8046720" y="3657600"/>
            <a:ext cx="3520440" cy="1920240"/>
          </a:xfrm>
          <a:prstGeom prst="roundRect">
            <a:avLst>
              <a:gd name="adj" fmla="val 3810"/>
            </a:avLst>
          </a:prstGeom>
          <a:solidFill>
            <a:srgbClr val="F4F4F6"/>
          </a:solidFill>
          <a:ln w="12700">
            <a:solidFill>
              <a:srgbClr val="F4F4F6"/>
            </a:solidFill>
            <a:prstDash val="solid"/>
          </a:ln>
        </p:spPr>
      </p:sp>
      <p:sp>
        <p:nvSpPr>
          <p:cNvPr id="27" name="Text 25"/>
          <p:cNvSpPr txBox="1"/>
          <p:nvPr/>
        </p:nvSpPr>
        <p:spPr>
          <a:xfrm>
            <a:off x="8275320" y="3840480"/>
            <a:ext cx="914400" cy="548640"/>
          </a:xfrm>
          <a:prstGeom prst="rect">
            <a:avLst/>
          </a:prstGeom>
          <a:noFill/>
          <a:ln/>
        </p:spPr>
        <p:txBody>
          <a:bodyPr wrap="square" lIns="0" tIns="0" rIns="0" bIns="0" rtlCol="0" anchor="ctr"/>
          <a:lstStyle/>
          <a:p>
            <a:pPr indent="0" marL="0">
              <a:buNone/>
            </a:pPr>
            <a:r>
              <a:rPr lang="en-US" sz="3200" b="1" dirty="0">
                <a:solidFill>
                  <a:srgbClr val="A50E1F"/>
                </a:solidFill>
                <a:latin typeface="Arial" pitchFamily="34" charset="0"/>
                <a:ea typeface="Arial" pitchFamily="34" charset="-122"/>
                <a:cs typeface="Arial" pitchFamily="34" charset="-120"/>
              </a:rPr>
              <a:t>4</a:t>
            </a:r>
            <a:endParaRPr lang="en-US" sz="3200" dirty="0"/>
          </a:p>
        </p:txBody>
      </p:sp>
      <p:sp>
        <p:nvSpPr>
          <p:cNvPr id="28" name="Text 26"/>
          <p:cNvSpPr txBox="1"/>
          <p:nvPr/>
        </p:nvSpPr>
        <p:spPr>
          <a:xfrm>
            <a:off x="9098280" y="3931920"/>
            <a:ext cx="2286000" cy="411480"/>
          </a:xfrm>
          <a:prstGeom prst="rect">
            <a:avLst/>
          </a:prstGeom>
          <a:noFill/>
          <a:ln/>
        </p:spPr>
        <p:txBody>
          <a:bodyPr wrap="square" lIns="0" tIns="0" rIns="0" bIns="0" rtlCol="0" anchor="ctr"/>
          <a:lstStyle/>
          <a:p>
            <a:pPr indent="0" marL="0">
              <a:buNone/>
            </a:pPr>
            <a:r>
              <a:rPr lang="en-US" sz="1600" b="1" dirty="0">
                <a:solidFill>
                  <a:srgbClr val="2A2D34"/>
                </a:solidFill>
                <a:latin typeface="Arial" pitchFamily="34" charset="0"/>
                <a:ea typeface="Arial" pitchFamily="34" charset="-122"/>
                <a:cs typeface="Arial" pitchFamily="34" charset="-120"/>
              </a:rPr>
              <a:t>Kinh tế tỉnh</a:t>
            </a:r>
            <a:endParaRPr lang="en-US" sz="1600" dirty="0"/>
          </a:p>
        </p:txBody>
      </p:sp>
      <p:sp>
        <p:nvSpPr>
          <p:cNvPr id="29" name="Text 27"/>
          <p:cNvSpPr txBox="1"/>
          <p:nvPr/>
        </p:nvSpPr>
        <p:spPr>
          <a:xfrm>
            <a:off x="8275320" y="4480560"/>
            <a:ext cx="3108960" cy="1005840"/>
          </a:xfrm>
          <a:prstGeom prst="rect">
            <a:avLst/>
          </a:prstGeom>
          <a:noFill/>
          <a:ln/>
        </p:spPr>
        <p:txBody>
          <a:bodyPr wrap="square" lIns="0" tIns="0" rIns="0" bIns="0" rtlCol="0" anchor="t"/>
          <a:lstStyle/>
          <a:p>
            <a:pPr indent="0" marL="0">
              <a:buNone/>
            </a:pPr>
            <a:r>
              <a:rPr lang="en-US" sz="1150" dirty="0">
                <a:solidFill>
                  <a:srgbClr val="2A2D34"/>
                </a:solidFill>
                <a:latin typeface="Arial" pitchFamily="34" charset="0"/>
                <a:ea typeface="Arial" pitchFamily="34" charset="-122"/>
                <a:cs typeface="Arial" pitchFamily="34" charset="-120"/>
              </a:rPr>
              <a:t>Dân số, mật độ, GRDP/người, diện tích — giữ để đo ở bảng ablation.</a:t>
            </a:r>
            <a:endParaRPr lang="en-US" sz="1150" dirty="0"/>
          </a:p>
        </p:txBody>
      </p:sp>
      <p:sp>
        <p:nvSpPr>
          <p:cNvPr id="30" name="Text 28"/>
          <p:cNvSpPr txBox="1"/>
          <p:nvPr/>
        </p:nvSpPr>
        <p:spPr>
          <a:xfrm>
            <a:off x="548640" y="5806440"/>
            <a:ext cx="11064240" cy="50292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Không dùng: nguồn tin (EDA câu 1), tỉnh mới sau sáp nhập (gộp các thị trường giá khác nhau), giá và mọi dạng của giá, mã tin, người đăng, cờ lọc. Căn ngoài vùng có dữ liệu tiện ích → để trống, không ghi 0.</a:t>
            </a:r>
            <a:endParaRPr lang="en-US" sz="1200" dirty="0"/>
          </a:p>
        </p:txBody>
      </p:sp>
      <p:sp>
        <p:nvSpPr>
          <p:cNvPr id="31" name="Text 29"/>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32" name="Text 30"/>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11185855" y="0"/>
            <a:ext cx="1005840" cy="1005840"/>
          </a:xfrm>
          <a:prstGeom prst="rtTriangle">
            <a:avLst/>
          </a:prstGeom>
          <a:solidFill>
            <a:srgbClr val="A50E1F"/>
          </a:solidFill>
          <a:ln w="12700">
            <a:solidFill>
              <a:srgbClr val="A50E1F"/>
            </a:solidFill>
            <a:prstDash val="solid"/>
          </a:ln>
        </p:spPr>
      </p:sp>
      <p:sp>
        <p:nvSpPr>
          <p:cNvPr id="3" name="Shape 1"/>
          <p:cNvSpPr/>
          <p:nvPr/>
        </p:nvSpPr>
        <p:spPr>
          <a:xfrm flipH="1" flipV="1">
            <a:off x="11688775" y="0"/>
            <a:ext cx="502920" cy="1508760"/>
          </a:xfrm>
          <a:prstGeom prst="rtTriangle">
            <a:avLst/>
          </a:prstGeom>
          <a:solidFill>
            <a:srgbClr val="E8505B">
              <a:alpha val="80000"/>
            </a:srgbClr>
          </a:solidFill>
          <a:ln w="12700">
            <a:solidFill>
              <a:srgbClr val="E8505B"/>
            </a:solidFill>
            <a:prstDash val="solid"/>
          </a:ln>
        </p:spPr>
      </p:sp>
      <p:sp>
        <p:nvSpPr>
          <p:cNvPr id="4" name="Text 2"/>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GIAI ĐOẠN 5 · CHỐNG RÒ RỈ</a:t>
            </a:r>
            <a:endParaRPr lang="en-US" sz="1200" dirty="0"/>
          </a:p>
        </p:txBody>
      </p:sp>
      <p:sp>
        <p:nvSpPr>
          <p:cNvPr id="5" name="Text 3"/>
          <p:cNvSpPr txBox="1"/>
          <p:nvPr/>
        </p:nvSpPr>
        <p:spPr>
          <a:xfrm>
            <a:off x="548640" y="658368"/>
            <a:ext cx="10241280" cy="685800"/>
          </a:xfrm>
          <a:prstGeom prst="rect">
            <a:avLst/>
          </a:prstGeom>
          <a:noFill/>
          <a:ln/>
        </p:spPr>
        <p:txBody>
          <a:bodyPr wrap="square" lIns="0" tIns="0" rIns="0" bIns="0" rtlCol="0" anchor="t"/>
          <a:lstStyle/>
          <a:p>
            <a:pPr indent="0" marL="0">
              <a:buNone/>
            </a:pPr>
            <a:r>
              <a:rPr lang="en-US" sz="3000" b="1" dirty="0">
                <a:solidFill>
                  <a:srgbClr val="2A2D34"/>
                </a:solidFill>
                <a:latin typeface="Arial" pitchFamily="34" charset="0"/>
                <a:ea typeface="Arial" pitchFamily="34" charset="-122"/>
                <a:cs typeface="Arial" pitchFamily="34" charset="-120"/>
              </a:rPr>
              <a:t>Ba lớp chặn mô hình nhìn trộm đáp án</a:t>
            </a:r>
            <a:endParaRPr lang="en-US" sz="3000" dirty="0"/>
          </a:p>
        </p:txBody>
      </p:sp>
      <p:sp>
        <p:nvSpPr>
          <p:cNvPr id="6" name="Shape 4"/>
          <p:cNvSpPr/>
          <p:nvPr/>
        </p:nvSpPr>
        <p:spPr>
          <a:xfrm>
            <a:off x="548640" y="1554480"/>
            <a:ext cx="5852160" cy="1024128"/>
          </a:xfrm>
          <a:prstGeom prst="roundRect">
            <a:avLst>
              <a:gd name="adj" fmla="val 7143"/>
            </a:avLst>
          </a:prstGeom>
          <a:solidFill>
            <a:srgbClr val="F4F4F6"/>
          </a:solidFill>
          <a:ln w="12700">
            <a:solidFill>
              <a:srgbClr val="F4F4F6"/>
            </a:solidFill>
            <a:prstDash val="solid"/>
          </a:ln>
        </p:spPr>
      </p:sp>
      <p:sp>
        <p:nvSpPr>
          <p:cNvPr id="7" name="Shape 5"/>
          <p:cNvSpPr/>
          <p:nvPr/>
        </p:nvSpPr>
        <p:spPr>
          <a:xfrm>
            <a:off x="749808" y="1828800"/>
            <a:ext cx="438912" cy="438912"/>
          </a:xfrm>
          <a:prstGeom prst="ellipse">
            <a:avLst/>
          </a:prstGeom>
          <a:solidFill>
            <a:srgbClr val="A50E1F"/>
          </a:solidFill>
          <a:ln w="12700">
            <a:solidFill>
              <a:srgbClr val="A50E1F"/>
            </a:solidFill>
            <a:prstDash val="solid"/>
          </a:ln>
        </p:spPr>
      </p:sp>
      <p:sp>
        <p:nvSpPr>
          <p:cNvPr id="8" name="Text 6"/>
          <p:cNvSpPr txBox="1"/>
          <p:nvPr/>
        </p:nvSpPr>
        <p:spPr>
          <a:xfrm>
            <a:off x="749808" y="18288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txBox="1"/>
          <p:nvPr/>
        </p:nvSpPr>
        <p:spPr>
          <a:xfrm>
            <a:off x="1371600" y="1673352"/>
            <a:ext cx="4846320" cy="292608"/>
          </a:xfrm>
          <a:prstGeom prst="rect">
            <a:avLst/>
          </a:prstGeom>
          <a:noFill/>
          <a:ln/>
        </p:spPr>
        <p:txBody>
          <a:bodyPr wrap="square" lIns="0" tIns="0" rIns="0" bIns="0" rtlCol="0" anchor="ctr"/>
          <a:lstStyle/>
          <a:p>
            <a:pPr indent="0" marL="0">
              <a:buNone/>
            </a:pPr>
            <a:r>
              <a:rPr lang="en-US" sz="1400" b="1" dirty="0">
                <a:solidFill>
                  <a:srgbClr val="2A2D34"/>
                </a:solidFill>
                <a:latin typeface="Arial" pitchFamily="34" charset="0"/>
                <a:ea typeface="Arial" pitchFamily="34" charset="-122"/>
                <a:cs typeface="Arial" pitchFamily="34" charset="-120"/>
              </a:rPr>
              <a:t>Chỉ học từ phần train</a:t>
            </a:r>
            <a:endParaRPr lang="en-US" sz="1400" dirty="0"/>
          </a:p>
        </p:txBody>
      </p:sp>
      <p:sp>
        <p:nvSpPr>
          <p:cNvPr id="10" name="Text 8"/>
          <p:cNvSpPr txBox="1"/>
          <p:nvPr/>
        </p:nvSpPr>
        <p:spPr>
          <a:xfrm>
            <a:off x="1371600" y="1984248"/>
            <a:ext cx="4892040" cy="548640"/>
          </a:xfrm>
          <a:prstGeom prst="rect">
            <a:avLst/>
          </a:prstGeom>
          <a:noFill/>
          <a:ln/>
        </p:spPr>
        <p:txBody>
          <a:bodyPr wrap="square" lIns="0" tIns="0" rIns="0" bIns="0" rtlCol="0" anchor="t"/>
          <a:lstStyle/>
          <a:p>
            <a:pPr indent="0" marL="0">
              <a:buNone/>
            </a:pPr>
            <a:r>
              <a:rPr lang="en-US" sz="1200" dirty="0">
                <a:solidFill>
                  <a:srgbClr val="2A2D34"/>
                </a:solidFill>
                <a:latin typeface="Arial" pitchFamily="34" charset="0"/>
                <a:ea typeface="Arial" pitchFamily="34" charset="-122"/>
                <a:cs typeface="Arial" pitchFamily="34" charset="-120"/>
              </a:rPr>
              <a:t>Giá thường của phường và giá hàng xóm chỉ tính từ train của fold hiện tại.</a:t>
            </a:r>
            <a:endParaRPr lang="en-US" sz="1200" dirty="0"/>
          </a:p>
        </p:txBody>
      </p:sp>
      <p:sp>
        <p:nvSpPr>
          <p:cNvPr id="11" name="Shape 9"/>
          <p:cNvSpPr/>
          <p:nvPr/>
        </p:nvSpPr>
        <p:spPr>
          <a:xfrm>
            <a:off x="548640" y="2743200"/>
            <a:ext cx="5852160" cy="1024128"/>
          </a:xfrm>
          <a:prstGeom prst="roundRect">
            <a:avLst>
              <a:gd name="adj" fmla="val 7143"/>
            </a:avLst>
          </a:prstGeom>
          <a:solidFill>
            <a:srgbClr val="F4F4F6"/>
          </a:solidFill>
          <a:ln w="12700">
            <a:solidFill>
              <a:srgbClr val="F4F4F6"/>
            </a:solidFill>
            <a:prstDash val="solid"/>
          </a:ln>
        </p:spPr>
      </p:sp>
      <p:sp>
        <p:nvSpPr>
          <p:cNvPr id="12" name="Shape 10"/>
          <p:cNvSpPr/>
          <p:nvPr/>
        </p:nvSpPr>
        <p:spPr>
          <a:xfrm>
            <a:off x="749808" y="3017520"/>
            <a:ext cx="438912" cy="438912"/>
          </a:xfrm>
          <a:prstGeom prst="ellipse">
            <a:avLst/>
          </a:prstGeom>
          <a:solidFill>
            <a:srgbClr val="A50E1F"/>
          </a:solidFill>
          <a:ln w="12700">
            <a:solidFill>
              <a:srgbClr val="A50E1F"/>
            </a:solidFill>
            <a:prstDash val="solid"/>
          </a:ln>
        </p:spPr>
      </p:sp>
      <p:sp>
        <p:nvSpPr>
          <p:cNvPr id="13" name="Text 11"/>
          <p:cNvSpPr txBox="1"/>
          <p:nvPr/>
        </p:nvSpPr>
        <p:spPr>
          <a:xfrm>
            <a:off x="749808" y="30175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371600" y="2862072"/>
            <a:ext cx="4846320" cy="292608"/>
          </a:xfrm>
          <a:prstGeom prst="rect">
            <a:avLst/>
          </a:prstGeom>
          <a:noFill/>
          <a:ln/>
        </p:spPr>
        <p:txBody>
          <a:bodyPr wrap="square" lIns="0" tIns="0" rIns="0" bIns="0" rtlCol="0" anchor="ctr"/>
          <a:lstStyle/>
          <a:p>
            <a:pPr indent="0" marL="0">
              <a:buNone/>
            </a:pPr>
            <a:r>
              <a:rPr lang="en-US" sz="1400" b="1" dirty="0">
                <a:solidFill>
                  <a:srgbClr val="2A2D34"/>
                </a:solidFill>
                <a:latin typeface="Arial" pitchFamily="34" charset="0"/>
                <a:ea typeface="Arial" pitchFamily="34" charset="-122"/>
                <a:cs typeface="Arial" pitchFamily="34" charset="-120"/>
              </a:rPr>
              <a:t>Tính chéo ngay trong train</a:t>
            </a:r>
            <a:endParaRPr lang="en-US" sz="1400" dirty="0"/>
          </a:p>
        </p:txBody>
      </p:sp>
      <p:sp>
        <p:nvSpPr>
          <p:cNvPr id="15" name="Text 13"/>
          <p:cNvSpPr txBox="1"/>
          <p:nvPr/>
        </p:nvSpPr>
        <p:spPr>
          <a:xfrm>
            <a:off x="1371600" y="3172968"/>
            <a:ext cx="4892040" cy="548640"/>
          </a:xfrm>
          <a:prstGeom prst="rect">
            <a:avLst/>
          </a:prstGeom>
          <a:noFill/>
          <a:ln/>
        </p:spPr>
        <p:txBody>
          <a:bodyPr wrap="square" lIns="0" tIns="0" rIns="0" bIns="0" rtlCol="0" anchor="t"/>
          <a:lstStyle/>
          <a:p>
            <a:pPr indent="0" marL="0">
              <a:buNone/>
            </a:pPr>
            <a:r>
              <a:rPr lang="en-US" sz="1200" dirty="0">
                <a:solidFill>
                  <a:srgbClr val="2A2D34"/>
                </a:solidFill>
                <a:latin typeface="Arial" pitchFamily="34" charset="0"/>
                <a:ea typeface="Arial" pitchFamily="34" charset="-122"/>
                <a:cs typeface="Arial" pitchFamily="34" charset="-120"/>
              </a:rPr>
              <a:t>Mỗi căn train nhận giá khu vực tính từ 4/5 phần train còn lại — giá của chính nó không lọt vào.</a:t>
            </a:r>
            <a:endParaRPr lang="en-US" sz="1200" dirty="0"/>
          </a:p>
        </p:txBody>
      </p:sp>
      <p:sp>
        <p:nvSpPr>
          <p:cNvPr id="16" name="Shape 14"/>
          <p:cNvSpPr/>
          <p:nvPr/>
        </p:nvSpPr>
        <p:spPr>
          <a:xfrm>
            <a:off x="548640" y="3931920"/>
            <a:ext cx="5852160" cy="1024128"/>
          </a:xfrm>
          <a:prstGeom prst="roundRect">
            <a:avLst>
              <a:gd name="adj" fmla="val 7143"/>
            </a:avLst>
          </a:prstGeom>
          <a:solidFill>
            <a:srgbClr val="F4F4F6"/>
          </a:solidFill>
          <a:ln w="12700">
            <a:solidFill>
              <a:srgbClr val="F4F4F6"/>
            </a:solidFill>
            <a:prstDash val="solid"/>
          </a:ln>
        </p:spPr>
      </p:sp>
      <p:sp>
        <p:nvSpPr>
          <p:cNvPr id="17" name="Shape 15"/>
          <p:cNvSpPr/>
          <p:nvPr/>
        </p:nvSpPr>
        <p:spPr>
          <a:xfrm>
            <a:off x="749808" y="4206240"/>
            <a:ext cx="438912" cy="438912"/>
          </a:xfrm>
          <a:prstGeom prst="ellipse">
            <a:avLst/>
          </a:prstGeom>
          <a:solidFill>
            <a:srgbClr val="A50E1F"/>
          </a:solidFill>
          <a:ln w="12700">
            <a:solidFill>
              <a:srgbClr val="A50E1F"/>
            </a:solidFill>
            <a:prstDash val="solid"/>
          </a:ln>
        </p:spPr>
      </p:sp>
      <p:sp>
        <p:nvSpPr>
          <p:cNvPr id="18" name="Text 16"/>
          <p:cNvSpPr txBox="1"/>
          <p:nvPr/>
        </p:nvSpPr>
        <p:spPr>
          <a:xfrm>
            <a:off x="749808" y="42062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txBox="1"/>
          <p:nvPr/>
        </p:nvSpPr>
        <p:spPr>
          <a:xfrm>
            <a:off x="1371600" y="4050792"/>
            <a:ext cx="4846320" cy="292608"/>
          </a:xfrm>
          <a:prstGeom prst="rect">
            <a:avLst/>
          </a:prstGeom>
          <a:noFill/>
          <a:ln/>
        </p:spPr>
        <p:txBody>
          <a:bodyPr wrap="square" lIns="0" tIns="0" rIns="0" bIns="0" rtlCol="0" anchor="ctr"/>
          <a:lstStyle/>
          <a:p>
            <a:pPr indent="0" marL="0">
              <a:buNone/>
            </a:pPr>
            <a:r>
              <a:rPr lang="en-US" sz="1400" b="1" dirty="0">
                <a:solidFill>
                  <a:srgbClr val="2A2D34"/>
                </a:solidFill>
                <a:latin typeface="Arial" pitchFamily="34" charset="0"/>
                <a:ea typeface="Arial" pitchFamily="34" charset="-122"/>
                <a:cs typeface="Arial" pitchFamily="34" charset="-120"/>
              </a:rPr>
              <a:t>Hàng xóm khác tòa</a:t>
            </a:r>
            <a:endParaRPr lang="en-US" sz="1400" dirty="0"/>
          </a:p>
        </p:txBody>
      </p:sp>
      <p:sp>
        <p:nvSpPr>
          <p:cNvPr id="20" name="Text 18"/>
          <p:cNvSpPr txBox="1"/>
          <p:nvPr/>
        </p:nvSpPr>
        <p:spPr>
          <a:xfrm>
            <a:off x="1371600" y="4361688"/>
            <a:ext cx="4892040" cy="548640"/>
          </a:xfrm>
          <a:prstGeom prst="rect">
            <a:avLst/>
          </a:prstGeom>
          <a:noFill/>
          <a:ln/>
        </p:spPr>
        <p:txBody>
          <a:bodyPr wrap="square" lIns="0" tIns="0" rIns="0" bIns="0" rtlCol="0" anchor="t"/>
          <a:lstStyle/>
          <a:p>
            <a:pPr indent="0" marL="0">
              <a:buNone/>
            </a:pPr>
            <a:r>
              <a:rPr lang="en-US" sz="1200" dirty="0">
                <a:solidFill>
                  <a:srgbClr val="2A2D34"/>
                </a:solidFill>
                <a:latin typeface="Arial" pitchFamily="34" charset="0"/>
                <a:ea typeface="Arial" pitchFamily="34" charset="-122"/>
                <a:cs typeface="Arial" pitchFamily="34" charset="-120"/>
              </a:rPr>
              <a:t>Lúc thi không có hàng xóm cùng tòa, nên lúc học cũng bỏ hàng xóm cùng nhóm vị trí.</a:t>
            </a:r>
            <a:endParaRPr lang="en-US" sz="1200" dirty="0"/>
          </a:p>
        </p:txBody>
      </p:sp>
      <p:sp>
        <p:nvSpPr>
          <p:cNvPr id="21" name="Shape 19"/>
          <p:cNvSpPr/>
          <p:nvPr/>
        </p:nvSpPr>
        <p:spPr>
          <a:xfrm>
            <a:off x="6720840" y="1554480"/>
            <a:ext cx="4937760" cy="1325880"/>
          </a:xfrm>
          <a:prstGeom prst="roundRect">
            <a:avLst>
              <a:gd name="adj" fmla="val 5517"/>
            </a:avLst>
          </a:prstGeom>
          <a:solidFill>
            <a:srgbClr val="F4F4F6"/>
          </a:solidFill>
          <a:ln w="12700">
            <a:solidFill>
              <a:srgbClr val="F4F4F6"/>
            </a:solidFill>
            <a:prstDash val="solid"/>
          </a:ln>
        </p:spPr>
      </p:sp>
      <p:sp>
        <p:nvSpPr>
          <p:cNvPr id="22" name="Text 20"/>
          <p:cNvSpPr txBox="1"/>
          <p:nvPr/>
        </p:nvSpPr>
        <p:spPr>
          <a:xfrm>
            <a:off x="6949440" y="1737360"/>
            <a:ext cx="1188720" cy="548640"/>
          </a:xfrm>
          <a:prstGeom prst="rect">
            <a:avLst/>
          </a:prstGeom>
          <a:noFill/>
          <a:ln/>
        </p:spPr>
        <p:txBody>
          <a:bodyPr wrap="square" lIns="0" tIns="0" rIns="0" bIns="0" rtlCol="0" anchor="ctr"/>
          <a:lstStyle/>
          <a:p>
            <a:pPr indent="0" marL="0">
              <a:buNone/>
            </a:pPr>
            <a:r>
              <a:rPr lang="en-US" sz="2600" b="1" dirty="0">
                <a:solidFill>
                  <a:srgbClr val="A50E1F"/>
                </a:solidFill>
                <a:latin typeface="Arial" pitchFamily="34" charset="0"/>
                <a:ea typeface="Arial" pitchFamily="34" charset="-122"/>
                <a:cs typeface="Arial" pitchFamily="34" charset="-120"/>
              </a:rPr>
              <a:t>Đạt</a:t>
            </a:r>
            <a:endParaRPr lang="en-US" sz="2600" dirty="0"/>
          </a:p>
        </p:txBody>
      </p:sp>
      <p:sp>
        <p:nvSpPr>
          <p:cNvPr id="23" name="Text 21"/>
          <p:cNvSpPr txBox="1"/>
          <p:nvPr/>
        </p:nvSpPr>
        <p:spPr>
          <a:xfrm>
            <a:off x="8183880" y="1691640"/>
            <a:ext cx="3291840" cy="1097280"/>
          </a:xfrm>
          <a:prstGeom prst="rect">
            <a:avLst/>
          </a:prstGeom>
          <a:noFill/>
          <a:ln/>
        </p:spPr>
        <p:txBody>
          <a:bodyPr wrap="square" lIns="0" tIns="0" rIns="0" bIns="0" rtlCol="0" anchor="ctr"/>
          <a:lstStyle/>
          <a:p>
            <a:pPr indent="0" marL="0">
              <a:buNone/>
            </a:pPr>
            <a:r>
              <a:rPr lang="en-US" sz="1150" dirty="0">
                <a:solidFill>
                  <a:srgbClr val="2A2D34"/>
                </a:solidFill>
                <a:latin typeface="Arial" pitchFamily="34" charset="0"/>
                <a:ea typeface="Arial" pitchFamily="34" charset="-122"/>
                <a:cs typeface="Arial" pitchFamily="34" charset="-120"/>
              </a:rPr>
              <a:t>Hợp đồng feature: không có cột cấm; tiện ích ngoài vùng phủ để trống; không feature nào tương quan &gt; 0,95 với giá (cao nhất 0,67).</a:t>
            </a:r>
            <a:endParaRPr lang="en-US" sz="1150" dirty="0"/>
          </a:p>
        </p:txBody>
      </p:sp>
      <p:sp>
        <p:nvSpPr>
          <p:cNvPr id="24" name="Shape 22"/>
          <p:cNvSpPr/>
          <p:nvPr/>
        </p:nvSpPr>
        <p:spPr>
          <a:xfrm>
            <a:off x="6720840" y="3063240"/>
            <a:ext cx="4937760" cy="1325880"/>
          </a:xfrm>
          <a:prstGeom prst="roundRect">
            <a:avLst>
              <a:gd name="adj" fmla="val 5517"/>
            </a:avLst>
          </a:prstGeom>
          <a:solidFill>
            <a:srgbClr val="F4F4F6"/>
          </a:solidFill>
          <a:ln w="12700">
            <a:solidFill>
              <a:srgbClr val="F4F4F6"/>
            </a:solidFill>
            <a:prstDash val="solid"/>
          </a:ln>
        </p:spPr>
      </p:sp>
      <p:sp>
        <p:nvSpPr>
          <p:cNvPr id="25" name="Text 23"/>
          <p:cNvSpPr txBox="1"/>
          <p:nvPr/>
        </p:nvSpPr>
        <p:spPr>
          <a:xfrm>
            <a:off x="6949440" y="3246120"/>
            <a:ext cx="1188720" cy="548640"/>
          </a:xfrm>
          <a:prstGeom prst="rect">
            <a:avLst/>
          </a:prstGeom>
          <a:noFill/>
          <a:ln/>
        </p:spPr>
        <p:txBody>
          <a:bodyPr wrap="square" lIns="0" tIns="0" rIns="0" bIns="0" rtlCol="0" anchor="ctr"/>
          <a:lstStyle/>
          <a:p>
            <a:pPr indent="0" marL="0">
              <a:buNone/>
            </a:pPr>
            <a:r>
              <a:rPr lang="en-US" sz="2600" b="1" dirty="0">
                <a:solidFill>
                  <a:srgbClr val="2A2D34"/>
                </a:solidFill>
                <a:latin typeface="Arial" pitchFamily="34" charset="0"/>
                <a:ea typeface="Arial" pitchFamily="34" charset="-122"/>
                <a:cs typeface="Arial" pitchFamily="34" charset="-120"/>
              </a:rPr>
              <a:t>77%</a:t>
            </a:r>
            <a:endParaRPr lang="en-US" sz="2600" dirty="0"/>
          </a:p>
        </p:txBody>
      </p:sp>
      <p:sp>
        <p:nvSpPr>
          <p:cNvPr id="26" name="Text 24"/>
          <p:cNvSpPr txBox="1"/>
          <p:nvPr/>
        </p:nvSpPr>
        <p:spPr>
          <a:xfrm>
            <a:off x="8183880" y="3200400"/>
            <a:ext cx="3291840" cy="1097280"/>
          </a:xfrm>
          <a:prstGeom prst="rect">
            <a:avLst/>
          </a:prstGeom>
          <a:noFill/>
          <a:ln/>
        </p:spPr>
        <p:txBody>
          <a:bodyPr wrap="square" lIns="0" tIns="0" rIns="0" bIns="0" rtlCol="0" anchor="ctr"/>
          <a:lstStyle/>
          <a:p>
            <a:pPr indent="0" marL="0">
              <a:buNone/>
            </a:pPr>
            <a:r>
              <a:rPr lang="en-US" sz="1150" dirty="0">
                <a:solidFill>
                  <a:srgbClr val="2A2D34"/>
                </a:solidFill>
                <a:latin typeface="Arial" pitchFamily="34" charset="0"/>
                <a:ea typeface="Arial" pitchFamily="34" charset="-122"/>
                <a:cs typeface="Arial" pitchFamily="34" charset="-120"/>
              </a:rPr>
              <a:t>Chỉ nhìn ô trống, máy đoán đúng nguồn tin 77% (đoán bừa 42%) — guland không bao giờ có nội thất, tình trạng dự án.</a:t>
            </a:r>
            <a:endParaRPr lang="en-US" sz="1150" dirty="0"/>
          </a:p>
        </p:txBody>
      </p:sp>
      <p:sp>
        <p:nvSpPr>
          <p:cNvPr id="27" name="Shape 25"/>
          <p:cNvSpPr/>
          <p:nvPr/>
        </p:nvSpPr>
        <p:spPr>
          <a:xfrm>
            <a:off x="6720840" y="4572000"/>
            <a:ext cx="4937760" cy="1325880"/>
          </a:xfrm>
          <a:prstGeom prst="roundRect">
            <a:avLst>
              <a:gd name="adj" fmla="val 5517"/>
            </a:avLst>
          </a:prstGeom>
          <a:solidFill>
            <a:srgbClr val="F4F4F6"/>
          </a:solidFill>
          <a:ln w="12700">
            <a:solidFill>
              <a:srgbClr val="F4F4F6"/>
            </a:solidFill>
            <a:prstDash val="solid"/>
          </a:ln>
        </p:spPr>
      </p:sp>
      <p:sp>
        <p:nvSpPr>
          <p:cNvPr id="28" name="Text 26"/>
          <p:cNvSpPr txBox="1"/>
          <p:nvPr/>
        </p:nvSpPr>
        <p:spPr>
          <a:xfrm>
            <a:off x="6949440" y="4754880"/>
            <a:ext cx="1188720" cy="548640"/>
          </a:xfrm>
          <a:prstGeom prst="rect">
            <a:avLst/>
          </a:prstGeom>
          <a:noFill/>
          <a:ln/>
        </p:spPr>
        <p:txBody>
          <a:bodyPr wrap="square" lIns="0" tIns="0" rIns="0" bIns="0" rtlCol="0" anchor="ctr"/>
          <a:lstStyle/>
          <a:p>
            <a:pPr indent="0" marL="0">
              <a:buNone/>
            </a:pPr>
            <a:r>
              <a:rPr lang="en-US" sz="2600" b="1" dirty="0">
                <a:solidFill>
                  <a:srgbClr val="A50E1F"/>
                </a:solidFill>
                <a:latin typeface="Arial" pitchFamily="34" charset="0"/>
                <a:ea typeface="Arial" pitchFamily="34" charset="-122"/>
                <a:cs typeface="Arial" pitchFamily="34" charset="-120"/>
              </a:rPr>
              <a:t>+0,5</a:t>
            </a:r>
            <a:endParaRPr lang="en-US" sz="2600" dirty="0"/>
          </a:p>
        </p:txBody>
      </p:sp>
      <p:sp>
        <p:nvSpPr>
          <p:cNvPr id="29" name="Text 27"/>
          <p:cNvSpPr txBox="1"/>
          <p:nvPr/>
        </p:nvSpPr>
        <p:spPr>
          <a:xfrm>
            <a:off x="8183880" y="4709160"/>
            <a:ext cx="3291840" cy="1097280"/>
          </a:xfrm>
          <a:prstGeom prst="rect">
            <a:avLst/>
          </a:prstGeom>
          <a:noFill/>
          <a:ln/>
        </p:spPr>
        <p:txBody>
          <a:bodyPr wrap="square" lIns="0" tIns="0" rIns="0" bIns="0" rtlCol="0" anchor="ctr"/>
          <a:lstStyle/>
          <a:p>
            <a:pPr indent="0" marL="0">
              <a:buNone/>
            </a:pPr>
            <a:r>
              <a:rPr lang="en-US" sz="1150" dirty="0">
                <a:solidFill>
                  <a:srgbClr val="2A2D34"/>
                </a:solidFill>
                <a:latin typeface="Arial" pitchFamily="34" charset="0"/>
                <a:ea typeface="Arial" pitchFamily="34" charset="-122"/>
                <a:cs typeface="Arial" pitchFamily="34" charset="-120"/>
              </a:rPr>
              <a:t>Bỏ 4 feature lộ nguồn: MAPE 25,2% so với 24,7% — chỉ tệ hơn 0,5 điểm, nhỏ hơn độ lệch fold. Giữ bộ đầy đủ, kiểm lại bằng SHAP.</a:t>
            </a:r>
            <a:endParaRPr lang="en-US" sz="1150" dirty="0"/>
          </a:p>
        </p:txBody>
      </p:sp>
      <p:sp>
        <p:nvSpPr>
          <p:cNvPr id="30" name="Text 28"/>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31" name="Text 29"/>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11185855" y="0"/>
            <a:ext cx="1005840" cy="1005840"/>
          </a:xfrm>
          <a:prstGeom prst="rtTriangle">
            <a:avLst/>
          </a:prstGeom>
          <a:solidFill>
            <a:srgbClr val="A50E1F"/>
          </a:solidFill>
          <a:ln w="12700">
            <a:solidFill>
              <a:srgbClr val="A50E1F"/>
            </a:solidFill>
            <a:prstDash val="solid"/>
          </a:ln>
        </p:spPr>
      </p:sp>
      <p:sp>
        <p:nvSpPr>
          <p:cNvPr id="3" name="Shape 1"/>
          <p:cNvSpPr/>
          <p:nvPr/>
        </p:nvSpPr>
        <p:spPr>
          <a:xfrm flipH="1" flipV="1">
            <a:off x="11688775" y="0"/>
            <a:ext cx="502920" cy="1508760"/>
          </a:xfrm>
          <a:prstGeom prst="rtTriangle">
            <a:avLst/>
          </a:prstGeom>
          <a:solidFill>
            <a:srgbClr val="E8505B">
              <a:alpha val="80000"/>
            </a:srgbClr>
          </a:solidFill>
          <a:ln w="12700">
            <a:solidFill>
              <a:srgbClr val="E8505B"/>
            </a:solidFill>
            <a:prstDash val="solid"/>
          </a:ln>
        </p:spPr>
      </p:sp>
      <p:sp>
        <p:nvSpPr>
          <p:cNvPr id="4" name="Text 2"/>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GIAI ĐOẠN 6 · BẢNG ABLATION</a:t>
            </a:r>
            <a:endParaRPr lang="en-US" sz="1200" dirty="0"/>
          </a:p>
        </p:txBody>
      </p:sp>
      <p:sp>
        <p:nvSpPr>
          <p:cNvPr id="5" name="Text 3"/>
          <p:cNvSpPr txBox="1"/>
          <p:nvPr/>
        </p:nvSpPr>
        <p:spPr>
          <a:xfrm>
            <a:off x="548640" y="658368"/>
            <a:ext cx="10241280" cy="685800"/>
          </a:xfrm>
          <a:prstGeom prst="rect">
            <a:avLst/>
          </a:prstGeom>
          <a:noFill/>
          <a:ln/>
        </p:spPr>
        <p:txBody>
          <a:bodyPr wrap="square" lIns="0" tIns="0" rIns="0" bIns="0" rtlCol="0" anchor="t"/>
          <a:lstStyle/>
          <a:p>
            <a:pPr indent="0" marL="0">
              <a:buNone/>
            </a:pPr>
            <a:r>
              <a:rPr lang="en-US" sz="3000" b="1" dirty="0">
                <a:solidFill>
                  <a:srgbClr val="2A2D34"/>
                </a:solidFill>
                <a:latin typeface="Arial" pitchFamily="34" charset="0"/>
                <a:ea typeface="Arial" pitchFamily="34" charset="-122"/>
                <a:cs typeface="Arial" pitchFamily="34" charset="-120"/>
              </a:rPr>
              <a:t>Vị trí là nhóm feature đáng giá nhất</a:t>
            </a:r>
            <a:endParaRPr lang="en-US" sz="3000" dirty="0"/>
          </a:p>
        </p:txBody>
      </p:sp>
      <p:graphicFrame>
        <p:nvGraphicFramePr>
          <p:cNvPr id="6" name="Chart 0" descr=""/>
          <p:cNvGraphicFramePr/>
          <p:nvPr/>
        </p:nvGraphicFramePr>
        <p:xfrm>
          <a:off x="548640" y="1463040"/>
          <a:ext cx="7498080" cy="46634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321040" y="1554480"/>
            <a:ext cx="3337560" cy="4526280"/>
          </a:xfrm>
          <a:prstGeom prst="roundRect">
            <a:avLst>
              <a:gd name="adj" fmla="val 2192"/>
            </a:avLst>
          </a:prstGeom>
          <a:solidFill>
            <a:srgbClr val="F4F4F6"/>
          </a:solidFill>
          <a:ln w="12700">
            <a:solidFill>
              <a:srgbClr val="F4F4F6"/>
            </a:solidFill>
            <a:prstDash val="solid"/>
          </a:ln>
        </p:spPr>
      </p:sp>
      <p:sp>
        <p:nvSpPr>
          <p:cNvPr id="8" name="Text 5"/>
          <p:cNvSpPr txBox="1"/>
          <p:nvPr/>
        </p:nvSpPr>
        <p:spPr>
          <a:xfrm>
            <a:off x="8549640" y="1737360"/>
            <a:ext cx="2926080" cy="365760"/>
          </a:xfrm>
          <a:prstGeom prst="rect">
            <a:avLst/>
          </a:prstGeom>
          <a:noFill/>
          <a:ln/>
        </p:spPr>
        <p:txBody>
          <a:bodyPr wrap="square" lIns="0" tIns="0" rIns="0" bIns="0" rtlCol="0" anchor="ctr"/>
          <a:lstStyle/>
          <a:p>
            <a:pPr indent="0" marL="0">
              <a:buNone/>
            </a:pPr>
            <a:r>
              <a:rPr lang="en-US" sz="1600" b="1" dirty="0">
                <a:solidFill>
                  <a:srgbClr val="A50E1F"/>
                </a:solidFill>
                <a:latin typeface="Arial" pitchFamily="34" charset="0"/>
                <a:ea typeface="Arial" pitchFamily="34" charset="-122"/>
                <a:cs typeface="Arial" pitchFamily="34" charset="-120"/>
              </a:rPr>
              <a:t>Đọc bảng</a:t>
            </a:r>
            <a:endParaRPr lang="en-US" sz="1600" dirty="0"/>
          </a:p>
        </p:txBody>
      </p:sp>
      <p:sp>
        <p:nvSpPr>
          <p:cNvPr id="9" name="Text 6"/>
          <p:cNvSpPr txBox="1"/>
          <p:nvPr/>
        </p:nvSpPr>
        <p:spPr>
          <a:xfrm>
            <a:off x="8549640" y="2194560"/>
            <a:ext cx="2926080" cy="374904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A2D34"/>
                </a:solidFill>
                <a:latin typeface="Arial" pitchFamily="34" charset="0"/>
                <a:ea typeface="Arial" pitchFamily="34" charset="-122"/>
                <a:cs typeface="Arial" pitchFamily="34" charset="-120"/>
              </a:rPr>
              <a:t>Vị trí hành chính: −10,1 điểm — nhóm duy nhất vượt hẳn độ lệch giữa các fold (±1–2).</a:t>
            </a:r>
            <a:endParaRPr lang="en-US" sz="1200" dirty="0"/>
          </a:p>
          <a:p>
            <a:pPr marL="177800" indent="-177800">
              <a:spcAft>
                <a:spcPts val="600"/>
              </a:spcAft>
              <a:buSzPct val="100000"/>
              <a:buChar char="•"/>
            </a:pPr>
            <a:r>
              <a:rPr lang="en-US" sz="1200" dirty="0">
                <a:solidFill>
                  <a:srgbClr val="2A2D34"/>
                </a:solidFill>
                <a:latin typeface="Arial" pitchFamily="34" charset="0"/>
                <a:ea typeface="Arial" pitchFamily="34" charset="-122"/>
                <a:cs typeface="Arial" pitchFamily="34" charset="-120"/>
              </a:rPr>
              <a:t>Các nhóm sau: mỗi nhóm &lt; 1 điểm, gộp lại −2,2 điểm.</a:t>
            </a:r>
            <a:endParaRPr lang="en-US" sz="1200" dirty="0"/>
          </a:p>
          <a:p>
            <a:pPr marL="177800" indent="-177800">
              <a:spcAft>
                <a:spcPts val="600"/>
              </a:spcAft>
              <a:buSzPct val="100000"/>
              <a:buChar char="•"/>
            </a:pPr>
            <a:r>
              <a:rPr lang="en-US" sz="1200" dirty="0">
                <a:solidFill>
                  <a:srgbClr val="2A2D34"/>
                </a:solidFill>
                <a:latin typeface="Arial" pitchFamily="34" charset="0"/>
                <a:ea typeface="Arial" pitchFamily="34" charset="-122"/>
                <a:cs typeface="Arial" pitchFamily="34" charset="-120"/>
              </a:rPr>
              <a:t>Đầy đủ: 24,4% ± 1,0; MdAPE 18,8%; R² 0,47.</a:t>
            </a:r>
            <a:endParaRPr lang="en-US" sz="1200" dirty="0"/>
          </a:p>
          <a:p>
            <a:pPr marL="177800" indent="-177800">
              <a:spcAft>
                <a:spcPts val="600"/>
              </a:spcAft>
              <a:buSzPct val="100000"/>
              <a:buChar char="•"/>
            </a:pPr>
            <a:r>
              <a:rPr lang="en-US" sz="1200" dirty="0">
                <a:solidFill>
                  <a:srgbClr val="2A2D34"/>
                </a:solidFill>
                <a:latin typeface="Arial" pitchFamily="34" charset="0"/>
                <a:ea typeface="Arial" pitchFamily="34" charset="-122"/>
                <a:cs typeface="Arial" pitchFamily="34" charset="-120"/>
              </a:rPr>
              <a:t>Bỏ guland khi học: 24,1% so với 24,2% — không khác → giữ guland.</a:t>
            </a:r>
            <a:endParaRPr lang="en-US" sz="1200" dirty="0"/>
          </a:p>
        </p:txBody>
      </p:sp>
      <p:sp>
        <p:nvSpPr>
          <p:cNvPr id="10" name="Text 7"/>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11" name="Text 8"/>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11185855" y="0"/>
            <a:ext cx="1005840" cy="1005840"/>
          </a:xfrm>
          <a:prstGeom prst="rtTriangle">
            <a:avLst/>
          </a:prstGeom>
          <a:solidFill>
            <a:srgbClr val="A50E1F"/>
          </a:solidFill>
          <a:ln w="12700">
            <a:solidFill>
              <a:srgbClr val="A50E1F"/>
            </a:solidFill>
            <a:prstDash val="solid"/>
          </a:ln>
        </p:spPr>
      </p:sp>
      <p:sp>
        <p:nvSpPr>
          <p:cNvPr id="3" name="Shape 1"/>
          <p:cNvSpPr/>
          <p:nvPr/>
        </p:nvSpPr>
        <p:spPr>
          <a:xfrm flipH="1" flipV="1">
            <a:off x="11688775" y="0"/>
            <a:ext cx="502920" cy="1508760"/>
          </a:xfrm>
          <a:prstGeom prst="rtTriangle">
            <a:avLst/>
          </a:prstGeom>
          <a:solidFill>
            <a:srgbClr val="E8505B">
              <a:alpha val="80000"/>
            </a:srgbClr>
          </a:solidFill>
          <a:ln w="12700">
            <a:solidFill>
              <a:srgbClr val="E8505B"/>
            </a:solidFill>
            <a:prstDash val="solid"/>
          </a:ln>
        </p:spPr>
      </p:sp>
      <p:sp>
        <p:nvSpPr>
          <p:cNvPr id="4" name="Text 2"/>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GIAI ĐOẠN 7 · PHÂN TÍCH LỖI</a:t>
            </a:r>
            <a:endParaRPr lang="en-US" sz="1200" dirty="0"/>
          </a:p>
        </p:txBody>
      </p:sp>
      <p:sp>
        <p:nvSpPr>
          <p:cNvPr id="5" name="Text 3"/>
          <p:cNvSpPr txBox="1"/>
          <p:nvPr/>
        </p:nvSpPr>
        <p:spPr>
          <a:xfrm>
            <a:off x="548640" y="658368"/>
            <a:ext cx="10241280" cy="685800"/>
          </a:xfrm>
          <a:prstGeom prst="rect">
            <a:avLst/>
          </a:prstGeom>
          <a:noFill/>
          <a:ln/>
        </p:spPr>
        <p:txBody>
          <a:bodyPr wrap="square" lIns="0" tIns="0" rIns="0" bIns="0" rtlCol="0" anchor="t"/>
          <a:lstStyle/>
          <a:p>
            <a:pPr indent="0" marL="0">
              <a:buNone/>
            </a:pPr>
            <a:r>
              <a:rPr lang="en-US" sz="3000" b="1" dirty="0">
                <a:solidFill>
                  <a:srgbClr val="2A2D34"/>
                </a:solidFill>
                <a:latin typeface="Arial" pitchFamily="34" charset="0"/>
                <a:ea typeface="Arial" pitchFamily="34" charset="-122"/>
                <a:cs typeface="Arial" pitchFamily="34" charset="-120"/>
              </a:rPr>
              <a:t>Sai nhiều nhất ở căn rẻ bất thường và căn hạng sang</a:t>
            </a:r>
            <a:endParaRPr lang="en-US" sz="3000" dirty="0"/>
          </a:p>
        </p:txBody>
      </p:sp>
      <p:graphicFrame>
        <p:nvGraphicFramePr>
          <p:cNvPr id="6" name="Chart 0" descr=""/>
          <p:cNvGraphicFramePr/>
          <p:nvPr/>
        </p:nvGraphicFramePr>
        <p:xfrm>
          <a:off x="548640" y="1463040"/>
          <a:ext cx="5852160" cy="46634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720840" y="1554480"/>
            <a:ext cx="4937760" cy="1325880"/>
          </a:xfrm>
          <a:prstGeom prst="roundRect">
            <a:avLst>
              <a:gd name="adj" fmla="val 5517"/>
            </a:avLst>
          </a:prstGeom>
          <a:solidFill>
            <a:srgbClr val="F4F4F6"/>
          </a:solidFill>
          <a:ln w="12700">
            <a:solidFill>
              <a:srgbClr val="F4F4F6"/>
            </a:solidFill>
            <a:prstDash val="solid"/>
          </a:ln>
        </p:spPr>
      </p:sp>
      <p:sp>
        <p:nvSpPr>
          <p:cNvPr id="8" name="Text 5"/>
          <p:cNvSpPr txBox="1"/>
          <p:nvPr/>
        </p:nvSpPr>
        <p:spPr>
          <a:xfrm>
            <a:off x="6949440" y="1719072"/>
            <a:ext cx="4480560" cy="457200"/>
          </a:xfrm>
          <a:prstGeom prst="rect">
            <a:avLst/>
          </a:prstGeom>
          <a:noFill/>
          <a:ln/>
        </p:spPr>
        <p:txBody>
          <a:bodyPr wrap="square" lIns="0" tIns="0" rIns="0" bIns="0" rtlCol="0" anchor="ctr"/>
          <a:lstStyle/>
          <a:p>
            <a:pPr indent="0" marL="0">
              <a:buNone/>
            </a:pPr>
            <a:r>
              <a:rPr lang="en-US" sz="2200" b="1" dirty="0">
                <a:solidFill>
                  <a:srgbClr val="A50E1F"/>
                </a:solidFill>
                <a:latin typeface="Arial" pitchFamily="34" charset="0"/>
                <a:ea typeface="Arial" pitchFamily="34" charset="-122"/>
                <a:cs typeface="Arial" pitchFamily="34" charset="-120"/>
              </a:rPr>
              <a:t>20 / 20</a:t>
            </a:r>
            <a:endParaRPr lang="en-US" sz="2200" dirty="0"/>
          </a:p>
        </p:txBody>
      </p:sp>
      <p:sp>
        <p:nvSpPr>
          <p:cNvPr id="9" name="Text 6"/>
          <p:cNvSpPr txBox="1"/>
          <p:nvPr/>
        </p:nvSpPr>
        <p:spPr>
          <a:xfrm>
            <a:off x="6949440" y="2176272"/>
            <a:ext cx="4526280" cy="658368"/>
          </a:xfrm>
          <a:prstGeom prst="rect">
            <a:avLst/>
          </a:prstGeom>
          <a:noFill/>
          <a:ln/>
        </p:spPr>
        <p:txBody>
          <a:bodyPr wrap="square" lIns="0" tIns="0" rIns="0" bIns="0" rtlCol="0" anchor="t"/>
          <a:lstStyle/>
          <a:p>
            <a:pPr indent="0" marL="0">
              <a:buNone/>
            </a:pPr>
            <a:r>
              <a:rPr lang="en-US" sz="1200" dirty="0">
                <a:solidFill>
                  <a:srgbClr val="2A2D34"/>
                </a:solidFill>
                <a:latin typeface="Arial" pitchFamily="34" charset="0"/>
                <a:ea typeface="Arial" pitchFamily="34" charset="-122"/>
                <a:cs typeface="Arial" pitchFamily="34" charset="-120"/>
              </a:rPr>
              <a:t>dự đoán sai nhất đều là đoán CAO — giá thật rẻ bất thường.</a:t>
            </a:r>
            <a:endParaRPr lang="en-US" sz="1200" dirty="0"/>
          </a:p>
        </p:txBody>
      </p:sp>
      <p:sp>
        <p:nvSpPr>
          <p:cNvPr id="10" name="Shape 7"/>
          <p:cNvSpPr/>
          <p:nvPr/>
        </p:nvSpPr>
        <p:spPr>
          <a:xfrm>
            <a:off x="6720840" y="3063240"/>
            <a:ext cx="4937760" cy="1325880"/>
          </a:xfrm>
          <a:prstGeom prst="roundRect">
            <a:avLst>
              <a:gd name="adj" fmla="val 5517"/>
            </a:avLst>
          </a:prstGeom>
          <a:solidFill>
            <a:srgbClr val="F4F4F6"/>
          </a:solidFill>
          <a:ln w="12700">
            <a:solidFill>
              <a:srgbClr val="F4F4F6"/>
            </a:solidFill>
            <a:prstDash val="solid"/>
          </a:ln>
        </p:spPr>
      </p:sp>
      <p:sp>
        <p:nvSpPr>
          <p:cNvPr id="11" name="Text 8"/>
          <p:cNvSpPr txBox="1"/>
          <p:nvPr/>
        </p:nvSpPr>
        <p:spPr>
          <a:xfrm>
            <a:off x="6949440" y="3227832"/>
            <a:ext cx="4480560" cy="457200"/>
          </a:xfrm>
          <a:prstGeom prst="rect">
            <a:avLst/>
          </a:prstGeom>
          <a:noFill/>
          <a:ln/>
        </p:spPr>
        <p:txBody>
          <a:bodyPr wrap="square" lIns="0" tIns="0" rIns="0" bIns="0" rtlCol="0" anchor="ctr"/>
          <a:lstStyle/>
          <a:p>
            <a:pPr indent="0" marL="0">
              <a:buNone/>
            </a:pPr>
            <a:r>
              <a:rPr lang="en-US" sz="2200" b="1" dirty="0">
                <a:solidFill>
                  <a:srgbClr val="A50E1F"/>
                </a:solidFill>
                <a:latin typeface="Arial" pitchFamily="34" charset="0"/>
                <a:ea typeface="Arial" pitchFamily="34" charset="-122"/>
                <a:cs typeface="Arial" pitchFamily="34" charset="-120"/>
              </a:rPr>
              <a:t>139% → 79%</a:t>
            </a:r>
            <a:endParaRPr lang="en-US" sz="2200" dirty="0"/>
          </a:p>
        </p:txBody>
      </p:sp>
      <p:sp>
        <p:nvSpPr>
          <p:cNvPr id="12" name="Text 9"/>
          <p:cNvSpPr txBox="1"/>
          <p:nvPr/>
        </p:nvSpPr>
        <p:spPr>
          <a:xfrm>
            <a:off x="6949440" y="3685032"/>
            <a:ext cx="4526280" cy="658368"/>
          </a:xfrm>
          <a:prstGeom prst="rect">
            <a:avLst/>
          </a:prstGeom>
          <a:noFill/>
          <a:ln/>
        </p:spPr>
        <p:txBody>
          <a:bodyPr wrap="square" lIns="0" tIns="0" rIns="0" bIns="0" rtlCol="0" anchor="t"/>
          <a:lstStyle/>
          <a:p>
            <a:pPr indent="0" marL="0">
              <a:buNone/>
            </a:pPr>
            <a:r>
              <a:rPr lang="en-US" sz="1200" dirty="0">
                <a:solidFill>
                  <a:srgbClr val="2A2D34"/>
                </a:solidFill>
                <a:latin typeface="Arial" pitchFamily="34" charset="0"/>
                <a:ea typeface="Arial" pitchFamily="34" charset="-122"/>
                <a:cs typeface="Arial" pitchFamily="34" charset="-120"/>
              </a:rPr>
              <a:t>sai số của 64 tin chung cư mini / nhà ở xã hội sau khi sửa nhãn (v5); toàn bộ 24,7% → 24,4%.</a:t>
            </a:r>
            <a:endParaRPr lang="en-US" sz="1200" dirty="0"/>
          </a:p>
        </p:txBody>
      </p:sp>
      <p:sp>
        <p:nvSpPr>
          <p:cNvPr id="13" name="Shape 10"/>
          <p:cNvSpPr/>
          <p:nvPr/>
        </p:nvSpPr>
        <p:spPr>
          <a:xfrm>
            <a:off x="6720840" y="4572000"/>
            <a:ext cx="4937760" cy="1325880"/>
          </a:xfrm>
          <a:prstGeom prst="roundRect">
            <a:avLst>
              <a:gd name="adj" fmla="val 5517"/>
            </a:avLst>
          </a:prstGeom>
          <a:solidFill>
            <a:srgbClr val="F4F4F6"/>
          </a:solidFill>
          <a:ln w="12700">
            <a:solidFill>
              <a:srgbClr val="F4F4F6"/>
            </a:solidFill>
            <a:prstDash val="solid"/>
          </a:ln>
        </p:spPr>
      </p:sp>
      <p:sp>
        <p:nvSpPr>
          <p:cNvPr id="14" name="Text 11"/>
          <p:cNvSpPr txBox="1"/>
          <p:nvPr/>
        </p:nvSpPr>
        <p:spPr>
          <a:xfrm>
            <a:off x="6949440" y="4736592"/>
            <a:ext cx="4480560" cy="457200"/>
          </a:xfrm>
          <a:prstGeom prst="rect">
            <a:avLst/>
          </a:prstGeom>
          <a:noFill/>
          <a:ln/>
        </p:spPr>
        <p:txBody>
          <a:bodyPr wrap="square" lIns="0" tIns="0" rIns="0" bIns="0" rtlCol="0" anchor="ctr"/>
          <a:lstStyle/>
          <a:p>
            <a:pPr indent="0" marL="0">
              <a:buNone/>
            </a:pPr>
            <a:r>
              <a:rPr lang="en-US" sz="2200" b="1" dirty="0">
                <a:solidFill>
                  <a:srgbClr val="A50E1F"/>
                </a:solidFill>
                <a:latin typeface="Arial" pitchFamily="34" charset="0"/>
                <a:ea typeface="Arial" pitchFamily="34" charset="-122"/>
                <a:cs typeface="Arial" pitchFamily="34" charset="-120"/>
              </a:rPr>
              <a:t>Còn lại</a:t>
            </a:r>
            <a:endParaRPr lang="en-US" sz="2200" dirty="0"/>
          </a:p>
        </p:txBody>
      </p:sp>
      <p:sp>
        <p:nvSpPr>
          <p:cNvPr id="15" name="Text 12"/>
          <p:cNvSpPr txBox="1"/>
          <p:nvPr/>
        </p:nvSpPr>
        <p:spPr>
          <a:xfrm>
            <a:off x="6949440" y="5193792"/>
            <a:ext cx="4526280" cy="658368"/>
          </a:xfrm>
          <a:prstGeom prst="rect">
            <a:avLst/>
          </a:prstGeom>
          <a:noFill/>
          <a:ln/>
        </p:spPr>
        <p:txBody>
          <a:bodyPr wrap="square" lIns="0" tIns="0" rIns="0" bIns="0" rtlCol="0" anchor="t"/>
          <a:lstStyle/>
          <a:p>
            <a:pPr indent="0" marL="0">
              <a:buNone/>
            </a:pPr>
            <a:r>
              <a:rPr lang="en-US" sz="1200" dirty="0">
                <a:solidFill>
                  <a:srgbClr val="2A2D34"/>
                </a:solidFill>
                <a:latin typeface="Arial" pitchFamily="34" charset="0"/>
                <a:ea typeface="Arial" pitchFamily="34" charset="-122"/>
                <a:cs typeface="Arial" pitchFamily="34" charset="-120"/>
              </a:rPr>
              <a:t>giá niêm yết chỉ là tiền trả trước ("chỉ với 1ty8"), vài nhà đất còn sót, 1 tin sai quận.</a:t>
            </a:r>
            <a:endParaRPr lang="en-US" sz="1200" dirty="0"/>
          </a:p>
        </p:txBody>
      </p:sp>
      <p:sp>
        <p:nvSpPr>
          <p:cNvPr id="16" name="Text 13"/>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17" name="Text 14"/>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11185855" y="0"/>
            <a:ext cx="1005840" cy="1005840"/>
          </a:xfrm>
          <a:prstGeom prst="rtTriangle">
            <a:avLst/>
          </a:prstGeom>
          <a:solidFill>
            <a:srgbClr val="A50E1F"/>
          </a:solidFill>
          <a:ln w="12700">
            <a:solidFill>
              <a:srgbClr val="A50E1F"/>
            </a:solidFill>
            <a:prstDash val="solid"/>
          </a:ln>
        </p:spPr>
      </p:sp>
      <p:sp>
        <p:nvSpPr>
          <p:cNvPr id="3" name="Shape 1"/>
          <p:cNvSpPr/>
          <p:nvPr/>
        </p:nvSpPr>
        <p:spPr>
          <a:xfrm flipH="1" flipV="1">
            <a:off x="11688775" y="0"/>
            <a:ext cx="502920" cy="1508760"/>
          </a:xfrm>
          <a:prstGeom prst="rtTriangle">
            <a:avLst/>
          </a:prstGeom>
          <a:solidFill>
            <a:srgbClr val="E8505B">
              <a:alpha val="80000"/>
            </a:srgbClr>
          </a:solidFill>
          <a:ln w="12700">
            <a:solidFill>
              <a:srgbClr val="E8505B"/>
            </a:solidFill>
            <a:prstDash val="solid"/>
          </a:ln>
        </p:spPr>
      </p:sp>
      <p:sp>
        <p:nvSpPr>
          <p:cNvPr id="4" name="Text 2"/>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RỦI RO &amp; HẠN CHẾ</a:t>
            </a:r>
            <a:endParaRPr lang="en-US" sz="1200" dirty="0"/>
          </a:p>
        </p:txBody>
      </p:sp>
      <p:sp>
        <p:nvSpPr>
          <p:cNvPr id="5" name="Text 3"/>
          <p:cNvSpPr txBox="1"/>
          <p:nvPr/>
        </p:nvSpPr>
        <p:spPr>
          <a:xfrm>
            <a:off x="548640" y="658368"/>
            <a:ext cx="10241280" cy="685800"/>
          </a:xfrm>
          <a:prstGeom prst="rect">
            <a:avLst/>
          </a:prstGeom>
          <a:noFill/>
          <a:ln/>
        </p:spPr>
        <p:txBody>
          <a:bodyPr wrap="square" lIns="0" tIns="0" rIns="0" bIns="0" rtlCol="0" anchor="t"/>
          <a:lstStyle/>
          <a:p>
            <a:pPr indent="0" marL="0">
              <a:buNone/>
            </a:pPr>
            <a:r>
              <a:rPr lang="en-US" sz="3000" b="1" dirty="0">
                <a:solidFill>
                  <a:srgbClr val="2A2D34"/>
                </a:solidFill>
                <a:latin typeface="Arial" pitchFamily="34" charset="0"/>
                <a:ea typeface="Arial" pitchFamily="34" charset="-122"/>
                <a:cs typeface="Arial" pitchFamily="34" charset="-120"/>
              </a:rPr>
              <a:t>Những điều cần nói rõ khi báo cáo kết quả</a:t>
            </a:r>
            <a:endParaRPr lang="en-US" sz="3000" dirty="0"/>
          </a:p>
        </p:txBody>
      </p:sp>
      <p:sp>
        <p:nvSpPr>
          <p:cNvPr id="6" name="Shape 4"/>
          <p:cNvSpPr/>
          <p:nvPr/>
        </p:nvSpPr>
        <p:spPr>
          <a:xfrm>
            <a:off x="548640" y="1600200"/>
            <a:ext cx="5394960" cy="2057400"/>
          </a:xfrm>
          <a:prstGeom prst="roundRect">
            <a:avLst>
              <a:gd name="adj" fmla="val 3556"/>
            </a:avLst>
          </a:prstGeom>
          <a:solidFill>
            <a:srgbClr val="F4F4F6"/>
          </a:solidFill>
          <a:ln w="12700">
            <a:solidFill>
              <a:srgbClr val="F4F4F6"/>
            </a:solidFill>
            <a:prstDash val="solid"/>
          </a:ln>
        </p:spPr>
      </p:sp>
      <p:sp>
        <p:nvSpPr>
          <p:cNvPr id="7" name="Shape 5"/>
          <p:cNvSpPr/>
          <p:nvPr/>
        </p:nvSpPr>
        <p:spPr>
          <a:xfrm>
            <a:off x="822960" y="1874520"/>
            <a:ext cx="457200" cy="402336"/>
          </a:xfrm>
          <a:prstGeom prst="triangle">
            <a:avLst/>
          </a:prstGeom>
          <a:solidFill>
            <a:srgbClr val="A50E1F"/>
          </a:solidFill>
          <a:ln w="12700">
            <a:solidFill>
              <a:srgbClr val="A50E1F"/>
            </a:solidFill>
            <a:prstDash val="solid"/>
          </a:ln>
        </p:spPr>
      </p:sp>
      <p:sp>
        <p:nvSpPr>
          <p:cNvPr id="8" name="Text 6"/>
          <p:cNvSpPr txBox="1"/>
          <p:nvPr/>
        </p:nvSpPr>
        <p:spPr>
          <a:xfrm>
            <a:off x="822960" y="1929384"/>
            <a:ext cx="4572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9" name="Text 7"/>
          <p:cNvSpPr txBox="1"/>
          <p:nvPr/>
        </p:nvSpPr>
        <p:spPr>
          <a:xfrm>
            <a:off x="1463040" y="1856232"/>
            <a:ext cx="4297680" cy="457200"/>
          </a:xfrm>
          <a:prstGeom prst="rect">
            <a:avLst/>
          </a:prstGeom>
          <a:noFill/>
          <a:ln/>
        </p:spPr>
        <p:txBody>
          <a:bodyPr wrap="square" lIns="0" tIns="0" rIns="0" bIns="0" rtlCol="0" anchor="ctr"/>
          <a:lstStyle/>
          <a:p>
            <a:pPr indent="0" marL="0">
              <a:buNone/>
            </a:pPr>
            <a:r>
              <a:rPr lang="en-US" sz="1600" b="1" dirty="0">
                <a:solidFill>
                  <a:srgbClr val="2A2D34"/>
                </a:solidFill>
                <a:latin typeface="Arial" pitchFamily="34" charset="0"/>
                <a:ea typeface="Arial" pitchFamily="34" charset="-122"/>
                <a:cs typeface="Arial" pitchFamily="34" charset="-120"/>
              </a:rPr>
              <a:t>Giá rao, không phải giá giao dịch</a:t>
            </a:r>
            <a:endParaRPr lang="en-US" sz="1600" dirty="0"/>
          </a:p>
        </p:txBody>
      </p:sp>
      <p:sp>
        <p:nvSpPr>
          <p:cNvPr id="10" name="Text 8"/>
          <p:cNvSpPr txBox="1"/>
          <p:nvPr/>
        </p:nvSpPr>
        <p:spPr>
          <a:xfrm>
            <a:off x="822960" y="2468880"/>
            <a:ext cx="4892040" cy="1051560"/>
          </a:xfrm>
          <a:prstGeom prst="rect">
            <a:avLst/>
          </a:prstGeom>
          <a:noFill/>
          <a:ln/>
        </p:spPr>
        <p:txBody>
          <a:bodyPr wrap="square" lIns="0" tIns="0" rIns="0" bIns="0" rtlCol="0" anchor="t"/>
          <a:lstStyle/>
          <a:p>
            <a:pPr indent="0" marL="0">
              <a:buNone/>
            </a:pPr>
            <a:r>
              <a:rPr lang="en-US" sz="1300" dirty="0">
                <a:solidFill>
                  <a:srgbClr val="2A2D34"/>
                </a:solidFill>
                <a:latin typeface="Arial" pitchFamily="34" charset="0"/>
                <a:ea typeface="Arial" pitchFamily="34" charset="-122"/>
                <a:cs typeface="Arial" pitchFamily="34" charset="-120"/>
              </a:rPr>
              <a:t>Ba nguồn khớp nhau trong cùng dự án, nhưng có thể cùng cao hơn giá bán thật. Cần nêu ngay từ đầu báo cáo.</a:t>
            </a:r>
            <a:endParaRPr lang="en-US" sz="1300" dirty="0"/>
          </a:p>
        </p:txBody>
      </p:sp>
      <p:sp>
        <p:nvSpPr>
          <p:cNvPr id="11" name="Shape 9"/>
          <p:cNvSpPr/>
          <p:nvPr/>
        </p:nvSpPr>
        <p:spPr>
          <a:xfrm>
            <a:off x="6172200" y="1600200"/>
            <a:ext cx="5394960" cy="2057400"/>
          </a:xfrm>
          <a:prstGeom prst="roundRect">
            <a:avLst>
              <a:gd name="adj" fmla="val 3556"/>
            </a:avLst>
          </a:prstGeom>
          <a:solidFill>
            <a:srgbClr val="F4F4F6"/>
          </a:solidFill>
          <a:ln w="12700">
            <a:solidFill>
              <a:srgbClr val="F4F4F6"/>
            </a:solidFill>
            <a:prstDash val="solid"/>
          </a:ln>
        </p:spPr>
      </p:sp>
      <p:sp>
        <p:nvSpPr>
          <p:cNvPr id="12" name="Shape 10"/>
          <p:cNvSpPr/>
          <p:nvPr/>
        </p:nvSpPr>
        <p:spPr>
          <a:xfrm>
            <a:off x="6446520" y="1874520"/>
            <a:ext cx="457200" cy="402336"/>
          </a:xfrm>
          <a:prstGeom prst="triangle">
            <a:avLst/>
          </a:prstGeom>
          <a:solidFill>
            <a:srgbClr val="A50E1F"/>
          </a:solidFill>
          <a:ln w="12700">
            <a:solidFill>
              <a:srgbClr val="A50E1F"/>
            </a:solidFill>
            <a:prstDash val="solid"/>
          </a:ln>
        </p:spPr>
      </p:sp>
      <p:sp>
        <p:nvSpPr>
          <p:cNvPr id="13" name="Text 11"/>
          <p:cNvSpPr txBox="1"/>
          <p:nvPr/>
        </p:nvSpPr>
        <p:spPr>
          <a:xfrm>
            <a:off x="6446520" y="1929384"/>
            <a:ext cx="4572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4" name="Text 12"/>
          <p:cNvSpPr txBox="1"/>
          <p:nvPr/>
        </p:nvSpPr>
        <p:spPr>
          <a:xfrm>
            <a:off x="7086600" y="1856232"/>
            <a:ext cx="4297680" cy="457200"/>
          </a:xfrm>
          <a:prstGeom prst="rect">
            <a:avLst/>
          </a:prstGeom>
          <a:noFill/>
          <a:ln/>
        </p:spPr>
        <p:txBody>
          <a:bodyPr wrap="square" lIns="0" tIns="0" rIns="0" bIns="0" rtlCol="0" anchor="ctr"/>
          <a:lstStyle/>
          <a:p>
            <a:pPr indent="0" marL="0">
              <a:buNone/>
            </a:pPr>
            <a:r>
              <a:rPr lang="en-US" sz="1600" b="1" dirty="0">
                <a:solidFill>
                  <a:srgbClr val="2A2D34"/>
                </a:solidFill>
                <a:latin typeface="Arial" pitchFamily="34" charset="0"/>
                <a:ea typeface="Arial" pitchFamily="34" charset="-122"/>
                <a:cs typeface="Arial" pitchFamily="34" charset="-120"/>
              </a:rPr>
              <a:t>Ô trống lộ nguồn tin</a:t>
            </a:r>
            <a:endParaRPr lang="en-US" sz="1600" dirty="0"/>
          </a:p>
        </p:txBody>
      </p:sp>
      <p:sp>
        <p:nvSpPr>
          <p:cNvPr id="15" name="Text 13"/>
          <p:cNvSpPr txBox="1"/>
          <p:nvPr/>
        </p:nvSpPr>
        <p:spPr>
          <a:xfrm>
            <a:off x="6446520" y="2468880"/>
            <a:ext cx="4892040" cy="1051560"/>
          </a:xfrm>
          <a:prstGeom prst="rect">
            <a:avLst/>
          </a:prstGeom>
          <a:noFill/>
          <a:ln/>
        </p:spPr>
        <p:txBody>
          <a:bodyPr wrap="square" lIns="0" tIns="0" rIns="0" bIns="0" rtlCol="0" anchor="t"/>
          <a:lstStyle/>
          <a:p>
            <a:pPr indent="0" marL="0">
              <a:buNone/>
            </a:pPr>
            <a:r>
              <a:rPr lang="en-US" sz="1300" dirty="0">
                <a:solidFill>
                  <a:srgbClr val="2A2D34"/>
                </a:solidFill>
                <a:latin typeface="Arial" pitchFamily="34" charset="0"/>
                <a:ea typeface="Arial" pitchFamily="34" charset="-122"/>
                <a:cs typeface="Arial" pitchFamily="34" charset="-120"/>
              </a:rPr>
              <a:t>77% đoán đúng nguồn chỉ từ ô trống. Đo bằng mô hình thì ảnh hưởng nhỏ; sẽ kiểm lại bằng SHAP.</a:t>
            </a:r>
            <a:endParaRPr lang="en-US" sz="1300" dirty="0"/>
          </a:p>
        </p:txBody>
      </p:sp>
      <p:sp>
        <p:nvSpPr>
          <p:cNvPr id="16" name="Shape 14"/>
          <p:cNvSpPr/>
          <p:nvPr/>
        </p:nvSpPr>
        <p:spPr>
          <a:xfrm>
            <a:off x="548640" y="3886200"/>
            <a:ext cx="5394960" cy="2057400"/>
          </a:xfrm>
          <a:prstGeom prst="roundRect">
            <a:avLst>
              <a:gd name="adj" fmla="val 3556"/>
            </a:avLst>
          </a:prstGeom>
          <a:solidFill>
            <a:srgbClr val="F4F4F6"/>
          </a:solidFill>
          <a:ln w="12700">
            <a:solidFill>
              <a:srgbClr val="F4F4F6"/>
            </a:solidFill>
            <a:prstDash val="solid"/>
          </a:ln>
        </p:spPr>
      </p:sp>
      <p:sp>
        <p:nvSpPr>
          <p:cNvPr id="17" name="Shape 15"/>
          <p:cNvSpPr/>
          <p:nvPr/>
        </p:nvSpPr>
        <p:spPr>
          <a:xfrm>
            <a:off x="822960" y="4160520"/>
            <a:ext cx="457200" cy="402336"/>
          </a:xfrm>
          <a:prstGeom prst="triangle">
            <a:avLst/>
          </a:prstGeom>
          <a:solidFill>
            <a:srgbClr val="A50E1F"/>
          </a:solidFill>
          <a:ln w="12700">
            <a:solidFill>
              <a:srgbClr val="A50E1F"/>
            </a:solidFill>
            <a:prstDash val="solid"/>
          </a:ln>
        </p:spPr>
      </p:sp>
      <p:sp>
        <p:nvSpPr>
          <p:cNvPr id="18" name="Text 16"/>
          <p:cNvSpPr txBox="1"/>
          <p:nvPr/>
        </p:nvSpPr>
        <p:spPr>
          <a:xfrm>
            <a:off x="822960" y="4215384"/>
            <a:ext cx="4572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9" name="Text 17"/>
          <p:cNvSpPr txBox="1"/>
          <p:nvPr/>
        </p:nvSpPr>
        <p:spPr>
          <a:xfrm>
            <a:off x="1463040" y="4142232"/>
            <a:ext cx="4297680" cy="457200"/>
          </a:xfrm>
          <a:prstGeom prst="rect">
            <a:avLst/>
          </a:prstGeom>
          <a:noFill/>
          <a:ln/>
        </p:spPr>
        <p:txBody>
          <a:bodyPr wrap="square" lIns="0" tIns="0" rIns="0" bIns="0" rtlCol="0" anchor="ctr"/>
          <a:lstStyle/>
          <a:p>
            <a:pPr indent="0" marL="0">
              <a:buNone/>
            </a:pPr>
            <a:r>
              <a:rPr lang="en-US" sz="1600" b="1" dirty="0">
                <a:solidFill>
                  <a:srgbClr val="2A2D34"/>
                </a:solidFill>
                <a:latin typeface="Arial" pitchFamily="34" charset="0"/>
                <a:ea typeface="Arial" pitchFamily="34" charset="-122"/>
                <a:cs typeface="Arial" pitchFamily="34" charset="-120"/>
              </a:rPr>
              <a:t>Căn hạng sang và nhóm nhỏ</a:t>
            </a:r>
            <a:endParaRPr lang="en-US" sz="1600" dirty="0"/>
          </a:p>
        </p:txBody>
      </p:sp>
      <p:sp>
        <p:nvSpPr>
          <p:cNvPr id="20" name="Text 18"/>
          <p:cNvSpPr txBox="1"/>
          <p:nvPr/>
        </p:nvSpPr>
        <p:spPr>
          <a:xfrm>
            <a:off x="822960" y="4754880"/>
            <a:ext cx="4892040" cy="1051560"/>
          </a:xfrm>
          <a:prstGeom prst="rect">
            <a:avLst/>
          </a:prstGeom>
          <a:noFill/>
          <a:ln/>
        </p:spPr>
        <p:txBody>
          <a:bodyPr wrap="square" lIns="0" tIns="0" rIns="0" bIns="0" rtlCol="0" anchor="t"/>
          <a:lstStyle/>
          <a:p>
            <a:pPr indent="0" marL="0">
              <a:buNone/>
            </a:pPr>
            <a:r>
              <a:rPr lang="en-US" sz="1300" dirty="0">
                <a:solidFill>
                  <a:srgbClr val="2A2D34"/>
                </a:solidFill>
                <a:latin typeface="Arial" pitchFamily="34" charset="0"/>
                <a:ea typeface="Arial" pitchFamily="34" charset="-122"/>
                <a:cs typeface="Arial" pitchFamily="34" charset="-120"/>
              </a:rPr>
              <a:t>Penthouse sai 43%, nhóm mini / tập thể / nhà ở xã hội chỉ vài trăm căn — báo cáo sai số riêng.</a:t>
            </a:r>
            <a:endParaRPr lang="en-US" sz="1300" dirty="0"/>
          </a:p>
        </p:txBody>
      </p:sp>
      <p:sp>
        <p:nvSpPr>
          <p:cNvPr id="21" name="Shape 19"/>
          <p:cNvSpPr/>
          <p:nvPr/>
        </p:nvSpPr>
        <p:spPr>
          <a:xfrm>
            <a:off x="6172200" y="3886200"/>
            <a:ext cx="5394960" cy="2057400"/>
          </a:xfrm>
          <a:prstGeom prst="roundRect">
            <a:avLst>
              <a:gd name="adj" fmla="val 3556"/>
            </a:avLst>
          </a:prstGeom>
          <a:solidFill>
            <a:srgbClr val="F4F4F6"/>
          </a:solidFill>
          <a:ln w="12700">
            <a:solidFill>
              <a:srgbClr val="F4F4F6"/>
            </a:solidFill>
            <a:prstDash val="solid"/>
          </a:ln>
        </p:spPr>
      </p:sp>
      <p:sp>
        <p:nvSpPr>
          <p:cNvPr id="22" name="Shape 20"/>
          <p:cNvSpPr/>
          <p:nvPr/>
        </p:nvSpPr>
        <p:spPr>
          <a:xfrm>
            <a:off x="6446520" y="4160520"/>
            <a:ext cx="457200" cy="402336"/>
          </a:xfrm>
          <a:prstGeom prst="triangle">
            <a:avLst/>
          </a:prstGeom>
          <a:solidFill>
            <a:srgbClr val="A50E1F"/>
          </a:solidFill>
          <a:ln w="12700">
            <a:solidFill>
              <a:srgbClr val="A50E1F"/>
            </a:solidFill>
            <a:prstDash val="solid"/>
          </a:ln>
        </p:spPr>
      </p:sp>
      <p:sp>
        <p:nvSpPr>
          <p:cNvPr id="23" name="Text 21"/>
          <p:cNvSpPr txBox="1"/>
          <p:nvPr/>
        </p:nvSpPr>
        <p:spPr>
          <a:xfrm>
            <a:off x="6446520" y="4215384"/>
            <a:ext cx="4572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4" name="Text 22"/>
          <p:cNvSpPr txBox="1"/>
          <p:nvPr/>
        </p:nvSpPr>
        <p:spPr>
          <a:xfrm>
            <a:off x="7086600" y="4142232"/>
            <a:ext cx="4297680" cy="457200"/>
          </a:xfrm>
          <a:prstGeom prst="rect">
            <a:avLst/>
          </a:prstGeom>
          <a:noFill/>
          <a:ln/>
        </p:spPr>
        <p:txBody>
          <a:bodyPr wrap="square" lIns="0" tIns="0" rIns="0" bIns="0" rtlCol="0" anchor="ctr"/>
          <a:lstStyle/>
          <a:p>
            <a:pPr indent="0" marL="0">
              <a:buNone/>
            </a:pPr>
            <a:r>
              <a:rPr lang="en-US" sz="1600" b="1" dirty="0">
                <a:solidFill>
                  <a:srgbClr val="2A2D34"/>
                </a:solidFill>
                <a:latin typeface="Arial" pitchFamily="34" charset="0"/>
                <a:ea typeface="Arial" pitchFamily="34" charset="-122"/>
                <a:cs typeface="Arial" pitchFamily="34" charset="-120"/>
              </a:rPr>
              <a:t>Lỗi dữ liệu còn sót</a:t>
            </a:r>
            <a:endParaRPr lang="en-US" sz="1600" dirty="0"/>
          </a:p>
        </p:txBody>
      </p:sp>
      <p:sp>
        <p:nvSpPr>
          <p:cNvPr id="25" name="Text 23"/>
          <p:cNvSpPr txBox="1"/>
          <p:nvPr/>
        </p:nvSpPr>
        <p:spPr>
          <a:xfrm>
            <a:off x="6446520" y="4754880"/>
            <a:ext cx="4892040" cy="1051560"/>
          </a:xfrm>
          <a:prstGeom prst="rect">
            <a:avLst/>
          </a:prstGeom>
          <a:noFill/>
          <a:ln/>
        </p:spPr>
        <p:txBody>
          <a:bodyPr wrap="square" lIns="0" tIns="0" rIns="0" bIns="0" rtlCol="0" anchor="t"/>
          <a:lstStyle/>
          <a:p>
            <a:pPr indent="0" marL="0">
              <a:buNone/>
            </a:pPr>
            <a:r>
              <a:rPr lang="en-US" sz="1300" dirty="0">
                <a:solidFill>
                  <a:srgbClr val="2A2D34"/>
                </a:solidFill>
                <a:latin typeface="Arial" pitchFamily="34" charset="0"/>
                <a:ea typeface="Arial" pitchFamily="34" charset="-122"/>
                <a:cs typeface="Arial" pitchFamily="34" charset="-120"/>
              </a:rPr>
              <a:t>~20 nhà phố của 1 người đăng guland, tin giá trả trước không ghi tổng giá — xử lý ở vòng phân tích lỗi sau.</a:t>
            </a:r>
            <a:endParaRPr lang="en-US" sz="1300" dirty="0"/>
          </a:p>
        </p:txBody>
      </p:sp>
      <p:sp>
        <p:nvSpPr>
          <p:cNvPr id="26" name="Text 24"/>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27" name="Text 25"/>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flipV="1">
            <a:off x="8503920" y="0"/>
            <a:ext cx="3687775" cy="2743200"/>
          </a:xfrm>
          <a:prstGeom prst="rtTriangle">
            <a:avLst/>
          </a:prstGeom>
          <a:solidFill>
            <a:srgbClr val="A50E1F"/>
          </a:solidFill>
          <a:ln w="12700">
            <a:solidFill>
              <a:srgbClr val="A50E1F"/>
            </a:solidFill>
            <a:prstDash val="solid"/>
          </a:ln>
        </p:spPr>
      </p:sp>
      <p:sp>
        <p:nvSpPr>
          <p:cNvPr id="3" name="Shape 1"/>
          <p:cNvSpPr/>
          <p:nvPr/>
        </p:nvSpPr>
        <p:spPr>
          <a:xfrm flipH="1">
            <a:off x="9966960" y="4754880"/>
            <a:ext cx="2224735" cy="2103120"/>
          </a:xfrm>
          <a:prstGeom prst="rtTriangle">
            <a:avLst/>
          </a:prstGeom>
          <a:solidFill>
            <a:srgbClr val="E8505B">
              <a:alpha val="85000"/>
            </a:srgbClr>
          </a:solidFill>
          <a:ln w="12700">
            <a:solidFill>
              <a:srgbClr val="E8505B"/>
            </a:solidFill>
            <a:prstDash val="solid"/>
          </a:ln>
        </p:spPr>
      </p:sp>
      <p:sp>
        <p:nvSpPr>
          <p:cNvPr id="4" name="Text 2"/>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200" b="1" spc="200" kern="0" dirty="0">
                <a:solidFill>
                  <a:srgbClr val="A50E1F"/>
                </a:solidFill>
                <a:latin typeface="Arial" pitchFamily="34" charset="0"/>
                <a:ea typeface="Arial" pitchFamily="34" charset="-122"/>
                <a:cs typeface="Arial" pitchFamily="34" charset="-120"/>
              </a:rPr>
              <a:t>KẾ HOẠCH TIẾP THEO</a:t>
            </a:r>
            <a:endParaRPr lang="en-US" sz="1200" dirty="0"/>
          </a:p>
        </p:txBody>
      </p:sp>
      <p:sp>
        <p:nvSpPr>
          <p:cNvPr id="5" name="Text 3"/>
          <p:cNvSpPr txBox="1"/>
          <p:nvPr/>
        </p:nvSpPr>
        <p:spPr>
          <a:xfrm>
            <a:off x="548640" y="658368"/>
            <a:ext cx="7863840" cy="685800"/>
          </a:xfrm>
          <a:prstGeom prst="rect">
            <a:avLst/>
          </a:prstGeom>
          <a:noFill/>
          <a:ln/>
        </p:spPr>
        <p:txBody>
          <a:bodyPr wrap="square" lIns="0" tIns="0" rIns="0" bIns="0" rtlCol="0" anchor="ctr"/>
          <a:lstStyle/>
          <a:p>
            <a:pPr indent="0" marL="0">
              <a:buNone/>
            </a:pPr>
            <a:r>
              <a:rPr lang="en-US" sz="3000" b="1" dirty="0">
                <a:solidFill>
                  <a:srgbClr val="2A2D34"/>
                </a:solidFill>
                <a:latin typeface="Arial" pitchFamily="34" charset="0"/>
                <a:ea typeface="Arial" pitchFamily="34" charset="-122"/>
                <a:cs typeface="Arial" pitchFamily="34" charset="-120"/>
              </a:rPr>
              <a:t>Hoàn thiện mô hình và giải thích</a:t>
            </a:r>
            <a:endParaRPr lang="en-US" sz="3000" dirty="0"/>
          </a:p>
        </p:txBody>
      </p:sp>
      <p:sp>
        <p:nvSpPr>
          <p:cNvPr id="6" name="Shape 4"/>
          <p:cNvSpPr/>
          <p:nvPr/>
        </p:nvSpPr>
        <p:spPr>
          <a:xfrm>
            <a:off x="548640" y="1737360"/>
            <a:ext cx="438912" cy="438912"/>
          </a:xfrm>
          <a:prstGeom prst="ellipse">
            <a:avLst/>
          </a:prstGeom>
          <a:solidFill>
            <a:srgbClr val="A50E1F"/>
          </a:solidFill>
          <a:ln w="12700">
            <a:solidFill>
              <a:srgbClr val="A50E1F"/>
            </a:solidFill>
            <a:prstDash val="solid"/>
          </a:ln>
        </p:spPr>
      </p:sp>
      <p:sp>
        <p:nvSpPr>
          <p:cNvPr id="7" name="Text 5"/>
          <p:cNvSpPr txBox="1"/>
          <p:nvPr/>
        </p:nvSpPr>
        <p:spPr>
          <a:xfrm>
            <a:off x="548640" y="17373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143000" y="1737360"/>
            <a:ext cx="2560320" cy="438912"/>
          </a:xfrm>
          <a:prstGeom prst="rect">
            <a:avLst/>
          </a:prstGeom>
          <a:noFill/>
          <a:ln/>
        </p:spPr>
        <p:txBody>
          <a:bodyPr wrap="square" lIns="0" tIns="0" rIns="0" bIns="0" rtlCol="0" anchor="ctr"/>
          <a:lstStyle/>
          <a:p>
            <a:pPr indent="0" marL="0">
              <a:buNone/>
            </a:pPr>
            <a:r>
              <a:rPr lang="en-US" sz="1800" b="1" dirty="0">
                <a:solidFill>
                  <a:srgbClr val="A50E1F"/>
                </a:solidFill>
                <a:latin typeface="Arial" pitchFamily="34" charset="0"/>
                <a:ea typeface="Arial" pitchFamily="34" charset="-122"/>
                <a:cs typeface="Arial" pitchFamily="34" charset="-120"/>
              </a:rPr>
              <a:t>Mô hình</a:t>
            </a:r>
            <a:endParaRPr lang="en-US" sz="1800" dirty="0"/>
          </a:p>
        </p:txBody>
      </p:sp>
      <p:sp>
        <p:nvSpPr>
          <p:cNvPr id="9" name="Shape 7"/>
          <p:cNvSpPr/>
          <p:nvPr/>
        </p:nvSpPr>
        <p:spPr>
          <a:xfrm>
            <a:off x="548640" y="2377440"/>
            <a:ext cx="3474720" cy="2926080"/>
          </a:xfrm>
          <a:prstGeom prst="roundRect">
            <a:avLst>
              <a:gd name="adj" fmla="val 2500"/>
            </a:avLst>
          </a:prstGeom>
          <a:solidFill>
            <a:srgbClr val="F4F4F6"/>
          </a:solidFill>
          <a:ln w="12700">
            <a:solidFill>
              <a:srgbClr val="F4F4F6"/>
            </a:solidFill>
            <a:prstDash val="solid"/>
          </a:ln>
        </p:spPr>
      </p:sp>
      <p:sp>
        <p:nvSpPr>
          <p:cNvPr id="10" name="Text 8"/>
          <p:cNvSpPr txBox="1"/>
          <p:nvPr/>
        </p:nvSpPr>
        <p:spPr>
          <a:xfrm>
            <a:off x="822960" y="2606040"/>
            <a:ext cx="2971800" cy="25603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2A2D34"/>
                </a:solidFill>
                <a:latin typeface="Arial" pitchFamily="34" charset="0"/>
                <a:ea typeface="Arial" pitchFamily="34" charset="-122"/>
                <a:cs typeface="Arial" pitchFamily="34" charset="-120"/>
              </a:rPr>
              <a:t>Vòng phân tích lỗi thứ 2</a:t>
            </a:r>
            <a:endParaRPr lang="en-US" sz="1350" dirty="0"/>
          </a:p>
          <a:p>
            <a:pPr marL="177800" indent="-177800">
              <a:spcAft>
                <a:spcPts val="600"/>
              </a:spcAft>
              <a:buSzPct val="100000"/>
              <a:buChar char="•"/>
            </a:pPr>
            <a:r>
              <a:rPr lang="en-US" sz="1350" dirty="0">
                <a:solidFill>
                  <a:srgbClr val="2A2D34"/>
                </a:solidFill>
                <a:latin typeface="Arial" pitchFamily="34" charset="0"/>
                <a:ea typeface="Arial" pitchFamily="34" charset="-122"/>
                <a:cs typeface="Arial" pitchFamily="34" charset="-120"/>
              </a:rPr>
              <a:t>Thử LightGBM / CatBoost</a:t>
            </a:r>
            <a:endParaRPr lang="en-US" sz="1350" dirty="0"/>
          </a:p>
          <a:p>
            <a:pPr marL="177800" indent="-177800">
              <a:spcAft>
                <a:spcPts val="600"/>
              </a:spcAft>
              <a:buSzPct val="100000"/>
              <a:buChar char="•"/>
            </a:pPr>
            <a:r>
              <a:rPr lang="en-US" sz="1350" dirty="0">
                <a:solidFill>
                  <a:srgbClr val="2A2D34"/>
                </a:solidFill>
                <a:latin typeface="Arial" pitchFamily="34" charset="0"/>
                <a:ea typeface="Arial" pitchFamily="34" charset="-122"/>
                <a:cs typeface="Arial" pitchFamily="34" charset="-120"/>
              </a:rPr>
              <a:t>Tinh chỉnh tham số — làm cuối cùng</a:t>
            </a:r>
            <a:endParaRPr lang="en-US" sz="1350" dirty="0"/>
          </a:p>
        </p:txBody>
      </p:sp>
      <p:sp>
        <p:nvSpPr>
          <p:cNvPr id="11" name="Shape 9"/>
          <p:cNvSpPr/>
          <p:nvPr/>
        </p:nvSpPr>
        <p:spPr>
          <a:xfrm>
            <a:off x="4297680" y="1737360"/>
            <a:ext cx="438912" cy="438912"/>
          </a:xfrm>
          <a:prstGeom prst="ellipse">
            <a:avLst/>
          </a:prstGeom>
          <a:solidFill>
            <a:srgbClr val="2A2D34"/>
          </a:solidFill>
          <a:ln w="12700">
            <a:solidFill>
              <a:srgbClr val="2A2D34"/>
            </a:solidFill>
            <a:prstDash val="solid"/>
          </a:ln>
        </p:spPr>
      </p:sp>
      <p:sp>
        <p:nvSpPr>
          <p:cNvPr id="12" name="Text 10"/>
          <p:cNvSpPr txBox="1"/>
          <p:nvPr/>
        </p:nvSpPr>
        <p:spPr>
          <a:xfrm>
            <a:off x="4297680" y="17373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4892040" y="1737360"/>
            <a:ext cx="2560320" cy="438912"/>
          </a:xfrm>
          <a:prstGeom prst="rect">
            <a:avLst/>
          </a:prstGeom>
          <a:noFill/>
          <a:ln/>
        </p:spPr>
        <p:txBody>
          <a:bodyPr wrap="square" lIns="0" tIns="0" rIns="0" bIns="0" rtlCol="0" anchor="ctr"/>
          <a:lstStyle/>
          <a:p>
            <a:pPr indent="0" marL="0">
              <a:buNone/>
            </a:pPr>
            <a:r>
              <a:rPr lang="en-US" sz="1800" b="1" dirty="0">
                <a:solidFill>
                  <a:srgbClr val="2A2D34"/>
                </a:solidFill>
                <a:latin typeface="Arial" pitchFamily="34" charset="0"/>
                <a:ea typeface="Arial" pitchFamily="34" charset="-122"/>
                <a:cs typeface="Arial" pitchFamily="34" charset="-120"/>
              </a:rPr>
              <a:t>Giải thích</a:t>
            </a:r>
            <a:endParaRPr lang="en-US" sz="1800" dirty="0"/>
          </a:p>
        </p:txBody>
      </p:sp>
      <p:sp>
        <p:nvSpPr>
          <p:cNvPr id="14" name="Shape 12"/>
          <p:cNvSpPr/>
          <p:nvPr/>
        </p:nvSpPr>
        <p:spPr>
          <a:xfrm>
            <a:off x="4297680" y="2377440"/>
            <a:ext cx="3474720" cy="2926080"/>
          </a:xfrm>
          <a:prstGeom prst="roundRect">
            <a:avLst>
              <a:gd name="adj" fmla="val 2500"/>
            </a:avLst>
          </a:prstGeom>
          <a:solidFill>
            <a:srgbClr val="F4F4F6"/>
          </a:solidFill>
          <a:ln w="12700">
            <a:solidFill>
              <a:srgbClr val="F4F4F6"/>
            </a:solidFill>
            <a:prstDash val="solid"/>
          </a:ln>
        </p:spPr>
      </p:sp>
      <p:sp>
        <p:nvSpPr>
          <p:cNvPr id="15" name="Text 13"/>
          <p:cNvSpPr txBox="1"/>
          <p:nvPr/>
        </p:nvSpPr>
        <p:spPr>
          <a:xfrm>
            <a:off x="4572000" y="2606040"/>
            <a:ext cx="2971800" cy="25603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2A2D34"/>
                </a:solidFill>
                <a:latin typeface="Arial" pitchFamily="34" charset="0"/>
                <a:ea typeface="Arial" pitchFamily="34" charset="-122"/>
                <a:cs typeface="Arial" pitchFamily="34" charset="-120"/>
              </a:rPr>
              <a:t>SHAP: feature nào quyết định giá</a:t>
            </a:r>
            <a:endParaRPr lang="en-US" sz="1350" dirty="0"/>
          </a:p>
          <a:p>
            <a:pPr marL="177800" indent="-177800">
              <a:spcAft>
                <a:spcPts val="600"/>
              </a:spcAft>
              <a:buSzPct val="100000"/>
              <a:buChar char="•"/>
            </a:pPr>
            <a:r>
              <a:rPr lang="en-US" sz="1350" dirty="0">
                <a:solidFill>
                  <a:srgbClr val="2A2D34"/>
                </a:solidFill>
                <a:latin typeface="Arial" pitchFamily="34" charset="0"/>
                <a:ea typeface="Arial" pitchFamily="34" charset="-122"/>
                <a:cs typeface="Arial" pitchFamily="34" charset="-120"/>
              </a:rPr>
              <a:t>Kiểm tra mô hình có dựa vào ô trống lộ nguồn</a:t>
            </a:r>
            <a:endParaRPr lang="en-US" sz="1350" dirty="0"/>
          </a:p>
          <a:p>
            <a:pPr marL="177800" indent="-177800">
              <a:spcAft>
                <a:spcPts val="600"/>
              </a:spcAft>
              <a:buSzPct val="100000"/>
              <a:buChar char="•"/>
            </a:pPr>
            <a:r>
              <a:rPr lang="en-US" sz="1350" dirty="0">
                <a:solidFill>
                  <a:srgbClr val="2A2D34"/>
                </a:solidFill>
                <a:latin typeface="Arial" pitchFamily="34" charset="0"/>
                <a:ea typeface="Arial" pitchFamily="34" charset="-122"/>
                <a:cs typeface="Arial" pitchFamily="34" charset="-120"/>
              </a:rPr>
              <a:t>shapiq: tương tác giữa các feature</a:t>
            </a:r>
            <a:endParaRPr lang="en-US" sz="1350" dirty="0"/>
          </a:p>
        </p:txBody>
      </p:sp>
      <p:sp>
        <p:nvSpPr>
          <p:cNvPr id="16" name="Shape 14"/>
          <p:cNvSpPr/>
          <p:nvPr/>
        </p:nvSpPr>
        <p:spPr>
          <a:xfrm>
            <a:off x="8046720" y="1737360"/>
            <a:ext cx="438912" cy="438912"/>
          </a:xfrm>
          <a:prstGeom prst="ellipse">
            <a:avLst/>
          </a:prstGeom>
          <a:solidFill>
            <a:srgbClr val="2A2D34"/>
          </a:solidFill>
          <a:ln w="12700">
            <a:solidFill>
              <a:srgbClr val="2A2D34"/>
            </a:solidFill>
            <a:prstDash val="solid"/>
          </a:ln>
        </p:spPr>
      </p:sp>
      <p:sp>
        <p:nvSpPr>
          <p:cNvPr id="17" name="Text 15"/>
          <p:cNvSpPr txBox="1"/>
          <p:nvPr/>
        </p:nvSpPr>
        <p:spPr>
          <a:xfrm>
            <a:off x="8046720" y="17373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8641080" y="1737360"/>
            <a:ext cx="2560320" cy="438912"/>
          </a:xfrm>
          <a:prstGeom prst="rect">
            <a:avLst/>
          </a:prstGeom>
          <a:noFill/>
          <a:ln/>
        </p:spPr>
        <p:txBody>
          <a:bodyPr wrap="square" lIns="0" tIns="0" rIns="0" bIns="0" rtlCol="0" anchor="ctr"/>
          <a:lstStyle/>
          <a:p>
            <a:pPr indent="0" marL="0">
              <a:buNone/>
            </a:pPr>
            <a:r>
              <a:rPr lang="en-US" sz="1800" b="1" dirty="0">
                <a:solidFill>
                  <a:srgbClr val="2A2D34"/>
                </a:solidFill>
                <a:latin typeface="Arial" pitchFamily="34" charset="0"/>
                <a:ea typeface="Arial" pitchFamily="34" charset="-122"/>
                <a:cs typeface="Arial" pitchFamily="34" charset="-120"/>
              </a:rPr>
              <a:t>Chốt kết quả</a:t>
            </a:r>
            <a:endParaRPr lang="en-US" sz="1800" dirty="0"/>
          </a:p>
        </p:txBody>
      </p:sp>
      <p:sp>
        <p:nvSpPr>
          <p:cNvPr id="19" name="Shape 17"/>
          <p:cNvSpPr/>
          <p:nvPr/>
        </p:nvSpPr>
        <p:spPr>
          <a:xfrm>
            <a:off x="8046720" y="2377440"/>
            <a:ext cx="3474720" cy="2926080"/>
          </a:xfrm>
          <a:prstGeom prst="roundRect">
            <a:avLst>
              <a:gd name="adj" fmla="val 2500"/>
            </a:avLst>
          </a:prstGeom>
          <a:solidFill>
            <a:srgbClr val="F4F4F6"/>
          </a:solidFill>
          <a:ln w="12700">
            <a:solidFill>
              <a:srgbClr val="F4F4F6"/>
            </a:solidFill>
            <a:prstDash val="solid"/>
          </a:ln>
        </p:spPr>
      </p:sp>
      <p:sp>
        <p:nvSpPr>
          <p:cNvPr id="20" name="Text 18"/>
          <p:cNvSpPr txBox="1"/>
          <p:nvPr/>
        </p:nvSpPr>
        <p:spPr>
          <a:xfrm>
            <a:off x="8321040" y="2606040"/>
            <a:ext cx="2971800" cy="25603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2A2D34"/>
                </a:solidFill>
                <a:latin typeface="Arial" pitchFamily="34" charset="0"/>
                <a:ea typeface="Arial" pitchFamily="34" charset="-122"/>
                <a:cs typeface="Arial" pitchFamily="34" charset="-120"/>
              </a:rPr>
              <a:t>Đánh giá tập test đúng một lần</a:t>
            </a:r>
            <a:endParaRPr lang="en-US" sz="1350" dirty="0"/>
          </a:p>
          <a:p>
            <a:pPr marL="177800" indent="-177800">
              <a:spcAft>
                <a:spcPts val="600"/>
              </a:spcAft>
              <a:buSzPct val="100000"/>
              <a:buChar char="•"/>
            </a:pPr>
            <a:r>
              <a:rPr lang="en-US" sz="1350" dirty="0">
                <a:solidFill>
                  <a:srgbClr val="2A2D34"/>
                </a:solidFill>
                <a:latin typeface="Arial" pitchFamily="34" charset="0"/>
                <a:ea typeface="Arial" pitchFamily="34" charset="-122"/>
                <a:cs typeface="Arial" pitchFamily="34" charset="-120"/>
              </a:rPr>
              <a:t>Sai số theo nguồn, vùng, phân khúc</a:t>
            </a:r>
            <a:endParaRPr lang="en-US" sz="1350" dirty="0"/>
          </a:p>
          <a:p>
            <a:pPr marL="177800" indent="-177800">
              <a:spcAft>
                <a:spcPts val="600"/>
              </a:spcAft>
              <a:buSzPct val="100000"/>
              <a:buChar char="•"/>
            </a:pPr>
            <a:r>
              <a:rPr lang="en-US" sz="1350" dirty="0">
                <a:solidFill>
                  <a:srgbClr val="2A2D34"/>
                </a:solidFill>
                <a:latin typeface="Arial" pitchFamily="34" charset="0"/>
                <a:ea typeface="Arial" pitchFamily="34" charset="-122"/>
                <a:cs typeface="Arial" pitchFamily="34" charset="-120"/>
              </a:rPr>
              <a:t>Báo cáo cuối và kết luận</a:t>
            </a:r>
            <a:endParaRPr lang="en-US" sz="1350" dirty="0"/>
          </a:p>
        </p:txBody>
      </p:sp>
      <p:sp>
        <p:nvSpPr>
          <p:cNvPr id="21" name="Text 19"/>
          <p:cNvSpPr txBox="1"/>
          <p:nvPr/>
        </p:nvSpPr>
        <p:spPr>
          <a:xfrm>
            <a:off x="548640" y="5577840"/>
            <a:ext cx="9144000" cy="548640"/>
          </a:xfrm>
          <a:prstGeom prst="rect">
            <a:avLst/>
          </a:prstGeom>
          <a:noFill/>
          <a:ln/>
        </p:spPr>
        <p:txBody>
          <a:bodyPr wrap="square" lIns="0" tIns="0" rIns="0" bIns="0" rtlCol="0" anchor="t"/>
          <a:lstStyle/>
          <a:p>
            <a:pPr indent="0" marL="0">
              <a:buNone/>
            </a:pPr>
            <a:r>
              <a:rPr lang="en-US" sz="1250" i="1" dirty="0">
                <a:solidFill>
                  <a:srgbClr val="6B7280"/>
                </a:solidFill>
                <a:latin typeface="Arial" pitchFamily="34" charset="0"/>
                <a:ea typeface="Arial" pitchFamily="34" charset="-122"/>
                <a:cs typeface="Arial" pitchFamily="34" charset="-120"/>
              </a:rPr>
              <a:t>Tập test (2.276 căn) vẫn chưa được dùng — mọi con số trong báo cáo này là kiểm định chéo 5 fold.</a:t>
            </a:r>
            <a:endParaRPr lang="en-US" sz="1250" dirty="0"/>
          </a:p>
        </p:txBody>
      </p:sp>
      <p:sp>
        <p:nvSpPr>
          <p:cNvPr id="22" name="Text 20"/>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Dự đoán giá căn hộ chung cư Việt Nam  ·  Báo cáo Sprint 3  ·  02/10/2026</a:t>
            </a:r>
            <a:endParaRPr lang="en-US" sz="1000" dirty="0"/>
          </a:p>
        </p:txBody>
      </p:sp>
      <p:sp>
        <p:nvSpPr>
          <p:cNvPr id="23" name="Text 21"/>
          <p:cNvSpPr txBox="1"/>
          <p:nvPr/>
        </p:nvSpPr>
        <p:spPr>
          <a:xfrm>
            <a:off x="11094415" y="6446520"/>
            <a:ext cx="548640" cy="274320"/>
          </a:xfrm>
          <a:prstGeom prst="rect">
            <a:avLst/>
          </a:prstGeom>
          <a:noFill/>
          <a:ln/>
        </p:spPr>
        <p:txBody>
          <a:bodyPr wrap="square" lIns="0" tIns="0" rIns="0" bIns="0" rtlCol="0" anchor="ctr"/>
          <a:lstStyle/>
          <a:p>
            <a:pPr algn="r" indent="0" marL="0">
              <a:buNone/>
            </a:pPr>
            <a:r>
              <a:rPr lang="en-US" sz="1000" dirty="0">
                <a:solidFill>
                  <a:srgbClr val="FFFFFF"/>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tiến độ Sprint 3 - Dự đoán giá căn hộ chung cư</dc:title>
  <dc:subject>PptxGenJS Presentation</dc:subject>
  <dc:creator>PptxGenJS</dc:creator>
  <cp:lastModifiedBy>PptxGenJS</cp:lastModifiedBy>
  <cp:revision>1</cp:revision>
  <dcterms:created xsi:type="dcterms:W3CDTF">2026-10-02T00:25:03Z</dcterms:created>
  <dcterms:modified xsi:type="dcterms:W3CDTF">2026-10-02T00:25:03Z</dcterms:modified>
</cp:coreProperties>
</file>